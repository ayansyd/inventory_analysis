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ineChart>
        <c:grouping val="standard"/>
        <c:varyColors val="0"/>
        <c:ser>
          <c:idx val="0"/>
          <c:order val="0"/>
          <c:tx>
            <c:strRef>
              <c:f>label 0</c:f>
              <c:strCache>
                <c:ptCount val="1"/>
                <c:pt idx="0">
                  <c:v>Median</c:v>
                </c:pt>
              </c:strCache>
            </c:strRef>
          </c:tx>
          <c:spPr>
            <a:solidFill>
              <a:srgbClr val="13293d"/>
            </a:solidFill>
            <a:ln w="44280">
              <a:solidFill>
                <a:srgbClr val="13293d"/>
              </a:solidFill>
              <a:round/>
            </a:ln>
          </c:spPr>
          <c:marker>
            <c:symbol val="none"/>
          </c:marker>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strCache>
            </c:strRef>
          </c:cat>
          <c:val>
            <c:numRef>
              <c:f>0</c:f>
              <c:numCache>
                <c:formatCode>General</c:formatCode>
                <c:ptCount val="20"/>
                <c:pt idx="0">
                  <c:v>30341</c:v>
                </c:pt>
                <c:pt idx="1">
                  <c:v>26742</c:v>
                </c:pt>
                <c:pt idx="2">
                  <c:v>25640.5</c:v>
                </c:pt>
                <c:pt idx="3">
                  <c:v>21862</c:v>
                </c:pt>
                <c:pt idx="4">
                  <c:v>19661</c:v>
                </c:pt>
                <c:pt idx="5">
                  <c:v>16611</c:v>
                </c:pt>
                <c:pt idx="6">
                  <c:v>13568.5</c:v>
                </c:pt>
                <c:pt idx="7">
                  <c:v>12005</c:v>
                </c:pt>
                <c:pt idx="8">
                  <c:v>9884</c:v>
                </c:pt>
                <c:pt idx="9">
                  <c:v>8817.5</c:v>
                </c:pt>
                <c:pt idx="10">
                  <c:v>7620</c:v>
                </c:pt>
                <c:pt idx="11">
                  <c:v>5291</c:v>
                </c:pt>
                <c:pt idx="12">
                  <c:v>4857</c:v>
                </c:pt>
                <c:pt idx="13">
                  <c:v>2760</c:v>
                </c:pt>
                <c:pt idx="14">
                  <c:v>2287</c:v>
                </c:pt>
                <c:pt idx="15">
                  <c:v>500</c:v>
                </c:pt>
                <c:pt idx="16">
                  <c:v>500</c:v>
                </c:pt>
                <c:pt idx="17">
                  <c:v>500</c:v>
                </c:pt>
                <c:pt idx="18">
                  <c:v>500</c:v>
                </c:pt>
                <c:pt idx="19">
                  <c:v>500</c:v>
                </c:pt>
              </c:numCache>
            </c:numRef>
          </c:val>
          <c:smooth val="0"/>
        </c:ser>
        <c:ser>
          <c:idx val="1"/>
          <c:order val="1"/>
          <c:tx>
            <c:strRef>
              <c:f>label 1</c:f>
              <c:strCache>
                <c:ptCount val="1"/>
                <c:pt idx="0">
                  <c:v>25th percentile</c:v>
                </c:pt>
              </c:strCache>
            </c:strRef>
          </c:tx>
          <c:spPr>
            <a:solidFill>
              <a:srgbClr val="b4bec8"/>
            </a:solidFill>
            <a:ln w="22320">
              <a:solidFill>
                <a:srgbClr val="b4bec8"/>
              </a:solidFill>
              <a:round/>
            </a:ln>
          </c:spPr>
          <c:marker>
            <c:symbol val="none"/>
          </c:marker>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strCache>
            </c:strRef>
          </c:cat>
          <c:val>
            <c:numRef>
              <c:f>1</c:f>
              <c:numCache>
                <c:formatCode>General</c:formatCode>
                <c:ptCount val="20"/>
                <c:pt idx="0">
                  <c:v>25248.5</c:v>
                </c:pt>
                <c:pt idx="1">
                  <c:v>22188</c:v>
                </c:pt>
                <c:pt idx="2">
                  <c:v>19964.75</c:v>
                </c:pt>
                <c:pt idx="3">
                  <c:v>17283.75</c:v>
                </c:pt>
                <c:pt idx="4">
                  <c:v>15078.5</c:v>
                </c:pt>
                <c:pt idx="5">
                  <c:v>12241.75</c:v>
                </c:pt>
                <c:pt idx="6">
                  <c:v>10299</c:v>
                </c:pt>
                <c:pt idx="7">
                  <c:v>8771</c:v>
                </c:pt>
                <c:pt idx="8">
                  <c:v>7184.5</c:v>
                </c:pt>
                <c:pt idx="9">
                  <c:v>5356.75</c:v>
                </c:pt>
                <c:pt idx="10">
                  <c:v>4276</c:v>
                </c:pt>
                <c:pt idx="11">
                  <c:v>2617.25</c:v>
                </c:pt>
                <c:pt idx="12">
                  <c:v>1450</c:v>
                </c:pt>
                <c:pt idx="13">
                  <c:v>500</c:v>
                </c:pt>
                <c:pt idx="14">
                  <c:v>500</c:v>
                </c:pt>
                <c:pt idx="15">
                  <c:v>500</c:v>
                </c:pt>
                <c:pt idx="16">
                  <c:v>500</c:v>
                </c:pt>
                <c:pt idx="17">
                  <c:v>500</c:v>
                </c:pt>
                <c:pt idx="18">
                  <c:v>500</c:v>
                </c:pt>
                <c:pt idx="19">
                  <c:v>500</c:v>
                </c:pt>
              </c:numCache>
            </c:numRef>
          </c:val>
          <c:smooth val="0"/>
        </c:ser>
        <c:ser>
          <c:idx val="2"/>
          <c:order val="2"/>
          <c:tx>
            <c:strRef>
              <c:f>label 2</c:f>
              <c:strCache>
                <c:ptCount val="1"/>
                <c:pt idx="0">
                  <c:v>75th percentile</c:v>
                </c:pt>
              </c:strCache>
            </c:strRef>
          </c:tx>
          <c:spPr>
            <a:solidFill>
              <a:srgbClr val="b4bec8"/>
            </a:solidFill>
            <a:ln w="22320">
              <a:solidFill>
                <a:srgbClr val="b4bec8"/>
              </a:solidFill>
              <a:round/>
            </a:ln>
          </c:spPr>
          <c:marker>
            <c:symbol val="none"/>
          </c:marker>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strCache>
            </c:strRef>
          </c:cat>
          <c:val>
            <c:numRef>
              <c:f>2</c:f>
              <c:numCache>
                <c:formatCode>General</c:formatCode>
                <c:ptCount val="20"/>
                <c:pt idx="0">
                  <c:v>45373</c:v>
                </c:pt>
                <c:pt idx="1">
                  <c:v>38553</c:v>
                </c:pt>
                <c:pt idx="2">
                  <c:v>35805.25</c:v>
                </c:pt>
                <c:pt idx="3">
                  <c:v>29759.5</c:v>
                </c:pt>
                <c:pt idx="4">
                  <c:v>26183.5</c:v>
                </c:pt>
                <c:pt idx="5">
                  <c:v>23961.5</c:v>
                </c:pt>
                <c:pt idx="6">
                  <c:v>19036</c:v>
                </c:pt>
                <c:pt idx="7">
                  <c:v>17414.5</c:v>
                </c:pt>
                <c:pt idx="8">
                  <c:v>16171.25</c:v>
                </c:pt>
                <c:pt idx="9">
                  <c:v>14336</c:v>
                </c:pt>
                <c:pt idx="10">
                  <c:v>11843</c:v>
                </c:pt>
                <c:pt idx="11">
                  <c:v>9685</c:v>
                </c:pt>
                <c:pt idx="12">
                  <c:v>8164.5</c:v>
                </c:pt>
                <c:pt idx="13">
                  <c:v>6500.5</c:v>
                </c:pt>
                <c:pt idx="14">
                  <c:v>5631.75</c:v>
                </c:pt>
                <c:pt idx="15">
                  <c:v>3485</c:v>
                </c:pt>
                <c:pt idx="16">
                  <c:v>2623</c:v>
                </c:pt>
                <c:pt idx="17">
                  <c:v>1567</c:v>
                </c:pt>
                <c:pt idx="18">
                  <c:v>846</c:v>
                </c:pt>
                <c:pt idx="19">
                  <c:v>500</c:v>
                </c:pt>
              </c:numCache>
            </c:numRef>
          </c:val>
          <c:smooth val="0"/>
        </c:ser>
        <c:hiLowLines>
          <c:spPr>
            <a:ln w="0">
              <a:noFill/>
            </a:ln>
          </c:spPr>
        </c:hiLowLines>
        <c:marker val="0"/>
        <c:axId val="87180102"/>
        <c:axId val="55779661"/>
      </c:lineChart>
      <c:catAx>
        <c:axId val="87180102"/>
        <c:scaling>
          <c:orientation val="minMax"/>
        </c:scaling>
        <c:delete val="0"/>
        <c:axPos val="b"/>
        <c:title>
          <c:tx>
            <c:rich>
              <a:bodyPr rot="0"/>
              <a:lstStyle/>
              <a:p>
                <a:pPr>
                  <a:defRPr b="0" sz="1200" spc="-1" strike="noStrike">
                    <a:solidFill>
                      <a:srgbClr val="2b3540"/>
                    </a:solidFill>
                    <a:latin typeface="Calibri"/>
                  </a:defRPr>
                </a:pPr>
                <a:r>
                  <a:rPr b="0" sz="1200" spc="-1" strike="noStrike">
                    <a:solidFill>
                      <a:srgbClr val="2b3540"/>
                    </a:solidFill>
                    <a:latin typeface="Calibri"/>
                  </a:rPr>
                  <a:t>Vehicle age (years)</a:t>
                </a:r>
              </a:p>
            </c:rich>
          </c:tx>
          <c:overlay val="0"/>
          <c:spPr>
            <a:noFill/>
            <a:ln w="0">
              <a:noFill/>
            </a:ln>
          </c:spPr>
        </c:title>
        <c:numFmt formatCode="[$-409]mm/dd/yyyy" sourceLinked="1"/>
        <c:majorTickMark val="out"/>
        <c:minorTickMark val="none"/>
        <c:tickLblPos val="nextTo"/>
        <c:spPr>
          <a:ln w="9360">
            <a:solidFill>
              <a:srgbClr val="b4bec8"/>
            </a:solidFill>
            <a:round/>
          </a:ln>
        </c:spPr>
        <c:txPr>
          <a:bodyPr/>
          <a:lstStyle/>
          <a:p>
            <a:pPr>
              <a:defRPr b="0" sz="1200" spc="-1" strike="noStrike">
                <a:solidFill>
                  <a:srgbClr val="2b3540"/>
                </a:solidFill>
                <a:latin typeface="Calibri"/>
              </a:defRPr>
            </a:pPr>
          </a:p>
        </c:txPr>
        <c:crossAx val="55779661"/>
        <c:crosses val="autoZero"/>
        <c:auto val="1"/>
        <c:lblAlgn val="ctr"/>
        <c:lblOffset val="100"/>
        <c:noMultiLvlLbl val="0"/>
      </c:catAx>
      <c:valAx>
        <c:axId val="55779661"/>
        <c:scaling>
          <c:orientation val="minMax"/>
        </c:scaling>
        <c:delete val="0"/>
        <c:axPos val="l"/>
        <c:majorGridlines>
          <c:spPr>
            <a:ln w="9360">
              <a:solidFill>
                <a:srgbClr val="dde3e8"/>
              </a:solidFill>
              <a:round/>
            </a:ln>
          </c:spPr>
        </c:majorGridlines>
        <c:numFmt formatCode="\$#,##0" sourceLinked="0"/>
        <c:majorTickMark val="out"/>
        <c:minorTickMark val="none"/>
        <c:tickLblPos val="nextTo"/>
        <c:spPr>
          <a:ln w="9360">
            <a:solidFill>
              <a:srgbClr val="878787"/>
            </a:solidFill>
            <a:round/>
          </a:ln>
        </c:spPr>
        <c:txPr>
          <a:bodyPr/>
          <a:lstStyle/>
          <a:p>
            <a:pPr>
              <a:defRPr b="0" sz="1200" spc="-1" strike="noStrike">
                <a:solidFill>
                  <a:srgbClr val="2b3540"/>
                </a:solidFill>
                <a:latin typeface="Calibri"/>
              </a:defRPr>
            </a:pPr>
          </a:p>
        </c:txPr>
        <c:crossAx val="87180102"/>
        <c:crosses val="autoZero"/>
        <c:crossBetween val="between"/>
      </c:valAx>
      <c:spPr>
        <a:noFill/>
        <a:ln w="0">
          <a:noFill/>
        </a:ln>
      </c:spPr>
    </c:plotArea>
    <c:legend>
      <c:legendPos val="t"/>
      <c:overlay val="0"/>
      <c:spPr>
        <a:noFill/>
        <a:ln w="0">
          <a:noFill/>
        </a:ln>
      </c:spPr>
      <c:txPr>
        <a:bodyPr/>
        <a:lstStyle/>
        <a:p>
          <a:pPr>
            <a:defRPr b="0" sz="1200" spc="-1" strike="noStrike">
              <a:solidFill>
                <a:srgbClr val="2b3540"/>
              </a:solidFill>
              <a:latin typeface="Calibri"/>
            </a:defRPr>
          </a:pPr>
        </a:p>
      </c:txPr>
    </c:legend>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All listings</c:v>
                </c:pt>
              </c:strCache>
            </c:strRef>
          </c:tx>
          <c:spPr>
            <a:solidFill>
              <a:srgbClr val="13293d"/>
            </a:solidFill>
            <a:ln w="0">
              <a:noFill/>
            </a:ln>
          </c:spPr>
          <c:invertIfNegative val="0"/>
          <c:dLbls>
            <c:numFmt formatCode="0.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Vehicle age</c:v>
                </c:pt>
                <c:pt idx="1">
                  <c:v>Mileage</c:v>
                </c:pt>
                <c:pt idx="2">
                  <c:v>Owners</c:v>
                </c:pt>
                <c:pt idx="3">
                  <c:v>Engine size</c:v>
                </c:pt>
                <c:pt idx="4">
                  <c:v>Horsepower</c:v>
                </c:pt>
              </c:strCache>
            </c:strRef>
          </c:cat>
          <c:val>
            <c:numRef>
              <c:f>0</c:f>
              <c:numCache>
                <c:formatCode>General</c:formatCode>
                <c:ptCount val="5"/>
                <c:pt idx="0">
                  <c:v>-0.88</c:v>
                </c:pt>
                <c:pt idx="1">
                  <c:v>-0.83</c:v>
                </c:pt>
                <c:pt idx="2">
                  <c:v>-0.76</c:v>
                </c:pt>
                <c:pt idx="3">
                  <c:v>0.02</c:v>
                </c:pt>
                <c:pt idx="4">
                  <c:v>0.08</c:v>
                </c:pt>
              </c:numCache>
            </c:numRef>
          </c:val>
        </c:ser>
        <c:ser>
          <c:idx val="1"/>
          <c:order val="1"/>
          <c:tx>
            <c:strRef>
              <c:f>label 1</c:f>
              <c:strCache>
                <c:ptCount val="1"/>
                <c:pt idx="0">
                  <c:v>Above $500</c:v>
                </c:pt>
              </c:strCache>
            </c:strRef>
          </c:tx>
          <c:spPr>
            <a:solidFill>
              <a:srgbClr val="007c85"/>
            </a:solidFill>
            <a:ln w="0">
              <a:noFill/>
            </a:ln>
          </c:spPr>
          <c:invertIfNegative val="0"/>
          <c:dLbls>
            <c:numFmt formatCode="0.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Vehicle age</c:v>
                </c:pt>
                <c:pt idx="1">
                  <c:v>Mileage</c:v>
                </c:pt>
                <c:pt idx="2">
                  <c:v>Owners</c:v>
                </c:pt>
                <c:pt idx="3">
                  <c:v>Engine size</c:v>
                </c:pt>
                <c:pt idx="4">
                  <c:v>Horsepower</c:v>
                </c:pt>
              </c:strCache>
            </c:strRef>
          </c:cat>
          <c:val>
            <c:numRef>
              <c:f>1</c:f>
              <c:numCache>
                <c:formatCode>General</c:formatCode>
                <c:ptCount val="5"/>
                <c:pt idx="0">
                  <c:v>-0.83</c:v>
                </c:pt>
                <c:pt idx="1">
                  <c:v>-0.71</c:v>
                </c:pt>
                <c:pt idx="2">
                  <c:v>-0.69</c:v>
                </c:pt>
                <c:pt idx="3">
                  <c:v>0.01</c:v>
                </c:pt>
                <c:pt idx="4">
                  <c:v>0.06</c:v>
                </c:pt>
              </c:numCache>
            </c:numRef>
          </c:val>
        </c:ser>
        <c:gapWidth val="55"/>
        <c:overlap val="-5"/>
        <c:axId val="62383667"/>
        <c:axId val="40044800"/>
      </c:barChart>
      <c:catAx>
        <c:axId val="62383667"/>
        <c:scaling>
          <c:orientation val="maxMin"/>
        </c:scaling>
        <c:delete val="0"/>
        <c:axPos val="b"/>
        <c:numFmt formatCode="[$-409]mm/dd/yyyy" sourceLinked="1"/>
        <c:majorTickMark val="out"/>
        <c:minorTickMark val="none"/>
        <c:tickLblPos val="low"/>
        <c:spPr>
          <a:ln w="9360">
            <a:solidFill>
              <a:srgbClr val="b4bec8"/>
            </a:solidFill>
            <a:round/>
          </a:ln>
        </c:spPr>
        <c:txPr>
          <a:bodyPr/>
          <a:lstStyle/>
          <a:p>
            <a:pPr>
              <a:defRPr b="0" sz="1600" spc="-1" strike="noStrike">
                <a:solidFill>
                  <a:srgbClr val="2b3540"/>
                </a:solidFill>
                <a:latin typeface="Calibri"/>
              </a:defRPr>
            </a:pPr>
          </a:p>
        </c:txPr>
        <c:crossAx val="40044800"/>
        <c:crosses val="autoZero"/>
        <c:auto val="1"/>
        <c:lblAlgn val="ctr"/>
        <c:lblOffset val="100"/>
        <c:noMultiLvlLbl val="0"/>
      </c:catAx>
      <c:valAx>
        <c:axId val="40044800"/>
        <c:scaling>
          <c:orientation val="minMax"/>
          <c:max val="0.3"/>
          <c:min val="-1"/>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62383667"/>
        <c:crossBetween val="between"/>
      </c:valAx>
      <c:spPr>
        <a:noFill/>
        <a:ln w="0">
          <a:noFill/>
        </a:ln>
      </c:spPr>
    </c:plotArea>
    <c:legend>
      <c:legendPos val="t"/>
      <c:overlay val="0"/>
      <c:spPr>
        <a:noFill/>
        <a:ln w="0">
          <a:noFill/>
        </a:ln>
      </c:spPr>
      <c:txPr>
        <a:bodyPr/>
        <a:lstStyle/>
        <a:p>
          <a:pPr>
            <a:defRPr b="0" sz="1600" spc="-1" strike="noStrike">
              <a:solidFill>
                <a:srgbClr val="2b3540"/>
              </a:solidFill>
              <a:latin typeface="Calibri"/>
            </a:defRPr>
          </a:pPr>
        </a:p>
      </c:txPr>
    </c:legend>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Average miss (MAE, $)</c:v>
                </c:pt>
              </c:strCache>
            </c:strRef>
          </c:tx>
          <c:spPr>
            <a:solidFill>
              <a:srgbClr val="b4bec8"/>
            </a:solidFill>
            <a:ln w="0">
              <a:noFill/>
            </a:ln>
          </c:spPr>
          <c:invertIfNegative val="0"/>
          <c:dPt>
            <c:idx val="0"/>
            <c:invertIfNegative val="0"/>
            <c:spPr>
              <a:solidFill>
                <a:srgbClr val="b4bec8"/>
              </a:solidFill>
              <a:ln w="0">
                <a:noFill/>
              </a:ln>
            </c:spPr>
          </c:dPt>
          <c:dPt>
            <c:idx val="1"/>
            <c:invertIfNegative val="0"/>
            <c:spPr>
              <a:solidFill>
                <a:srgbClr val="b4bec8"/>
              </a:solidFill>
              <a:ln w="0">
                <a:noFill/>
              </a:ln>
            </c:spPr>
          </c:dPt>
          <c:dPt>
            <c:idx val="2"/>
            <c:invertIfNegative val="0"/>
            <c:spPr>
              <a:solidFill>
                <a:srgbClr val="b4bec8"/>
              </a:solidFill>
              <a:ln w="0">
                <a:noFill/>
              </a:ln>
            </c:spPr>
          </c:dPt>
          <c:dPt>
            <c:idx val="3"/>
            <c:invertIfNegative val="0"/>
            <c:spPr>
              <a:solidFill>
                <a:srgbClr val="007c85"/>
              </a:solidFill>
              <a:ln w="0">
                <a:noFill/>
              </a:ln>
            </c:spPr>
          </c:dPt>
          <c:dLbls>
            <c:numFmt formatCode="\$#,##0" sourceLinked="0"/>
            <c:dLbl>
              <c:idx val="0"/>
              <c:numFmt formatCode="\$#,##0" sourceLinked="0"/>
              <c:txPr>
                <a:bodyPr wrap="square"/>
                <a:lstStyle/>
                <a:p>
                  <a:pPr>
                    <a:defRPr b="1" sz="1800" spc="-1" strike="noStrike">
                      <a:solidFill>
                        <a:srgbClr val="13293d"/>
                      </a:solidFill>
                      <a:latin typeface="Calibri"/>
                    </a:defRPr>
                  </a:pPr>
                </a:p>
              </c:txPr>
              <c:dLblPos val="outEnd"/>
              <c:showLegendKey val="0"/>
              <c:showVal val="1"/>
              <c:showCatName val="0"/>
              <c:showSerName val="0"/>
              <c:showPercent val="0"/>
              <c:separator>; </c:separator>
            </c:dLbl>
            <c:dLbl>
              <c:idx val="1"/>
              <c:numFmt formatCode="\$#,##0" sourceLinked="0"/>
              <c:txPr>
                <a:bodyPr wrap="square"/>
                <a:lstStyle/>
                <a:p>
                  <a:pPr>
                    <a:defRPr b="1" sz="1800" spc="-1" strike="noStrike">
                      <a:solidFill>
                        <a:srgbClr val="13293d"/>
                      </a:solidFill>
                      <a:latin typeface="Calibri"/>
                    </a:defRPr>
                  </a:pPr>
                </a:p>
              </c:txPr>
              <c:dLblPos val="outEnd"/>
              <c:showLegendKey val="0"/>
              <c:showVal val="1"/>
              <c:showCatName val="0"/>
              <c:showSerName val="0"/>
              <c:showPercent val="0"/>
              <c:separator>; </c:separator>
            </c:dLbl>
            <c:dLbl>
              <c:idx val="2"/>
              <c:numFmt formatCode="\$#,##0" sourceLinked="0"/>
              <c:txPr>
                <a:bodyPr wrap="square"/>
                <a:lstStyle/>
                <a:p>
                  <a:pPr>
                    <a:defRPr b="1" sz="1800" spc="-1" strike="noStrike">
                      <a:solidFill>
                        <a:srgbClr val="13293d"/>
                      </a:solidFill>
                      <a:latin typeface="Calibri"/>
                    </a:defRPr>
                  </a:pPr>
                </a:p>
              </c:txPr>
              <c:dLblPos val="outEnd"/>
              <c:showLegendKey val="0"/>
              <c:showVal val="1"/>
              <c:showCatName val="0"/>
              <c:showSerName val="0"/>
              <c:showPercent val="0"/>
              <c:separator>; </c:separator>
            </c:dLbl>
            <c:dLbl>
              <c:idx val="3"/>
              <c:numFmt formatCode="\$#,##0" sourceLinked="0"/>
              <c:txPr>
                <a:bodyPr wrap="square"/>
                <a:lstStyle/>
                <a:p>
                  <a:pPr>
                    <a:defRPr b="1" sz="1800" spc="-1" strike="noStrike">
                      <a:solidFill>
                        <a:srgbClr val="13293d"/>
                      </a:solidFill>
                      <a:latin typeface="Calibri"/>
                    </a:defRPr>
                  </a:pPr>
                </a:p>
              </c:txPr>
              <c:dLblPos val="outEnd"/>
              <c:showLegendKey val="0"/>
              <c:showVal val="1"/>
              <c:showCatName val="0"/>
              <c:showSerName val="0"/>
              <c:showPercent val="0"/>
              <c:separator>; </c:separator>
            </c:dLbl>
            <c:txPr>
              <a:bodyPr wrap="square"/>
              <a:lstStyle/>
              <a:p>
                <a:pPr>
                  <a:defRPr b="1" sz="18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Median baseline</c:v>
                </c:pt>
                <c:pt idx="1">
                  <c:v>Age + mileage</c:v>
                </c:pt>
                <c:pt idx="2">
                  <c:v>Curved age + mileage</c:v>
                </c:pt>
                <c:pt idx="3">
                  <c:v>Add vehicle model</c:v>
                </c:pt>
              </c:strCache>
            </c:strRef>
          </c:cat>
          <c:val>
            <c:numRef>
              <c:f>0</c:f>
              <c:numCache>
                <c:formatCode>General</c:formatCode>
                <c:ptCount val="4"/>
                <c:pt idx="0">
                  <c:v>9696</c:v>
                </c:pt>
                <c:pt idx="1">
                  <c:v>5574</c:v>
                </c:pt>
                <c:pt idx="2">
                  <c:v>4658</c:v>
                </c:pt>
                <c:pt idx="3">
                  <c:v>2832</c:v>
                </c:pt>
              </c:numCache>
            </c:numRef>
          </c:val>
        </c:ser>
        <c:gapWidth val="55"/>
        <c:overlap val="-5"/>
        <c:axId val="80136155"/>
        <c:axId val="69872855"/>
      </c:barChart>
      <c:catAx>
        <c:axId val="80136155"/>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69872855"/>
        <c:crosses val="autoZero"/>
        <c:auto val="1"/>
        <c:lblAlgn val="ctr"/>
        <c:lblOffset val="100"/>
        <c:noMultiLvlLbl val="0"/>
      </c:catAx>
      <c:valAx>
        <c:axId val="69872855"/>
        <c:scaling>
          <c:orientation val="minMax"/>
          <c:max val="1200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80136155"/>
        <c:crossBetween val="between"/>
      </c:valAx>
      <c:spPr>
        <a:noFill/>
        <a:ln w="0">
          <a:noFill/>
        </a:ln>
      </c:spPr>
    </c:plotArea>
    <c:plotVisOnly val="1"/>
    <c:dispBlanksAs val="gap"/>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All reserved rows</c:v>
                </c:pt>
              </c:strCache>
            </c:strRef>
          </c:tx>
          <c:spPr>
            <a:solidFill>
              <a:srgbClr val="13293d"/>
            </a:solidFill>
            <a:ln w="0">
              <a:noFill/>
            </a:ln>
          </c:spPr>
          <c:invertIfNegative val="0"/>
          <c:dLbls>
            <c:numFmt formatCode="\$#,##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
                <c:pt idx="0">
                  <c:v>Fixed Ridge + $500 rule</c:v>
                </c:pt>
                <c:pt idx="1">
                  <c:v>Fixed forest</c:v>
                </c:pt>
                <c:pt idx="2">
                  <c:v>Selected tuned forest</c:v>
                </c:pt>
              </c:strCache>
            </c:strRef>
          </c:cat>
          <c:val>
            <c:numRef>
              <c:f>0</c:f>
              <c:numCache>
                <c:formatCode>General</c:formatCode>
                <c:ptCount val="3"/>
                <c:pt idx="0">
                  <c:v>2251</c:v>
                </c:pt>
                <c:pt idx="1">
                  <c:v>2246</c:v>
                </c:pt>
                <c:pt idx="2">
                  <c:v>1417</c:v>
                </c:pt>
              </c:numCache>
            </c:numRef>
          </c:val>
        </c:ser>
        <c:ser>
          <c:idx val="1"/>
          <c:order val="1"/>
          <c:tx>
            <c:strRef>
              <c:f>label 1</c:f>
              <c:strCache>
                <c:ptCount val="1"/>
                <c:pt idx="0">
                  <c:v>Above $500</c:v>
                </c:pt>
              </c:strCache>
            </c:strRef>
          </c:tx>
          <c:spPr>
            <a:solidFill>
              <a:srgbClr val="007c85"/>
            </a:solidFill>
            <a:ln w="0">
              <a:noFill/>
            </a:ln>
          </c:spPr>
          <c:invertIfNegative val="0"/>
          <c:dLbls>
            <c:numFmt formatCode="\$#,##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
                <c:pt idx="0">
                  <c:v>Fixed Ridge + $500 rule</c:v>
                </c:pt>
                <c:pt idx="1">
                  <c:v>Fixed forest</c:v>
                </c:pt>
                <c:pt idx="2">
                  <c:v>Selected tuned forest</c:v>
                </c:pt>
              </c:strCache>
            </c:strRef>
          </c:cat>
          <c:val>
            <c:numRef>
              <c:f>1</c:f>
              <c:numCache>
                <c:formatCode>General</c:formatCode>
                <c:ptCount val="3"/>
                <c:pt idx="0">
                  <c:v>2608</c:v>
                </c:pt>
                <c:pt idx="1">
                  <c:v>2749</c:v>
                </c:pt>
                <c:pt idx="2">
                  <c:v>1758</c:v>
                </c:pt>
              </c:numCache>
            </c:numRef>
          </c:val>
        </c:ser>
        <c:gapWidth val="55"/>
        <c:overlap val="-5"/>
        <c:axId val="50986861"/>
        <c:axId val="42695795"/>
      </c:barChart>
      <c:catAx>
        <c:axId val="50986861"/>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42695795"/>
        <c:crosses val="autoZero"/>
        <c:auto val="1"/>
        <c:lblAlgn val="ctr"/>
        <c:lblOffset val="100"/>
        <c:noMultiLvlLbl val="0"/>
      </c:catAx>
      <c:valAx>
        <c:axId val="42695795"/>
        <c:scaling>
          <c:orientation val="minMax"/>
          <c:max val="340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50986861"/>
        <c:crossBetween val="between"/>
      </c:valAx>
      <c:spPr>
        <a:noFill/>
        <a:ln w="0">
          <a:noFill/>
        </a:ln>
      </c:spPr>
    </c:plotArea>
    <c:legend>
      <c:legendPos val="t"/>
      <c:overlay val="0"/>
      <c:spPr>
        <a:noFill/>
        <a:ln w="0">
          <a:noFill/>
        </a:ln>
      </c:spPr>
      <c:txPr>
        <a:bodyPr/>
        <a:lstStyle/>
        <a:p>
          <a:pPr>
            <a:defRPr b="0" sz="1600" spc="-1" strike="noStrike">
              <a:solidFill>
                <a:srgbClr val="2b3540"/>
              </a:solidFill>
              <a:latin typeface="Calibri"/>
            </a:defRPr>
          </a:pPr>
        </a:p>
      </c:txPr>
    </c:legend>
    <c:plotVisOnly val="1"/>
    <c:dispBlanksAs val="gap"/>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Average miss (MAE, $)</c:v>
                </c:pt>
              </c:strCache>
            </c:strRef>
          </c:tx>
          <c:spPr>
            <a:solidFill>
              <a:srgbClr val="007c85"/>
            </a:solidFill>
            <a:ln w="0">
              <a:noFill/>
            </a:ln>
          </c:spPr>
          <c:invertIfNegative val="0"/>
          <c:dLbls>
            <c:numFmt formatCode="\$#,##0" sourceLinked="0"/>
            <c:txPr>
              <a:bodyPr wrap="square"/>
              <a:lstStyle/>
              <a:p>
                <a:pPr>
                  <a:defRPr b="1" sz="16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At $500</c:v>
                </c:pt>
                <c:pt idx="1">
                  <c:v>&gt;$500-5k</c:v>
                </c:pt>
                <c:pt idx="2">
                  <c:v>&gt;$5k-15k</c:v>
                </c:pt>
                <c:pt idx="3">
                  <c:v>&gt;$15k-30k</c:v>
                </c:pt>
                <c:pt idx="4">
                  <c:v>&gt;$30k</c:v>
                </c:pt>
              </c:strCache>
            </c:strRef>
          </c:cat>
          <c:val>
            <c:numRef>
              <c:f>0</c:f>
              <c:numCache>
                <c:formatCode>General</c:formatCode>
                <c:ptCount val="5"/>
                <c:pt idx="0">
                  <c:v>204</c:v>
                </c:pt>
                <c:pt idx="1">
                  <c:v>1021</c:v>
                </c:pt>
                <c:pt idx="2">
                  <c:v>1571</c:v>
                </c:pt>
                <c:pt idx="3">
                  <c:v>1947</c:v>
                </c:pt>
                <c:pt idx="4">
                  <c:v>3169</c:v>
                </c:pt>
              </c:numCache>
            </c:numRef>
          </c:val>
        </c:ser>
        <c:gapWidth val="60"/>
        <c:overlap val="-5"/>
        <c:axId val="35508189"/>
        <c:axId val="14775934"/>
      </c:barChart>
      <c:catAx>
        <c:axId val="35508189"/>
        <c:scaling>
          <c:orientation val="minMax"/>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14775934"/>
        <c:crosses val="autoZero"/>
        <c:auto val="1"/>
        <c:lblAlgn val="ctr"/>
        <c:lblOffset val="100"/>
        <c:noMultiLvlLbl val="0"/>
      </c:catAx>
      <c:valAx>
        <c:axId val="14775934"/>
        <c:scaling>
          <c:orientation val="minMax"/>
          <c:max val="420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35508189"/>
        <c:crossBetween val="between"/>
      </c:valAx>
      <c:spPr>
        <a:noFill/>
        <a:ln w="0">
          <a:noFill/>
        </a:ln>
      </c:spPr>
    </c:plotArea>
    <c:plotVisOnly val="1"/>
    <c:dispBlanksAs val="gap"/>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Share of listings</c:v>
                </c:pt>
              </c:strCache>
            </c:strRef>
          </c:tx>
          <c:spPr>
            <a:solidFill>
              <a:srgbClr val="b4bec8"/>
            </a:solidFill>
            <a:ln w="0">
              <a:noFill/>
            </a:ln>
          </c:spPr>
          <c:invertIfNegative val="0"/>
          <c:dLbls>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0-4 years</c:v>
                </c:pt>
                <c:pt idx="1">
                  <c:v>5-9 years</c:v>
                </c:pt>
                <c:pt idx="2">
                  <c:v>10-14 years</c:v>
                </c:pt>
                <c:pt idx="3">
                  <c:v>15+ years</c:v>
                </c:pt>
              </c:strCache>
            </c:strRef>
          </c:cat>
          <c:val>
            <c:numRef>
              <c:f>0</c:f>
              <c:numCache>
                <c:formatCode>General</c:formatCode>
                <c:ptCount val="4"/>
                <c:pt idx="0">
                  <c:v>25.3</c:v>
                </c:pt>
                <c:pt idx="1">
                  <c:v>24.3</c:v>
                </c:pt>
                <c:pt idx="2">
                  <c:v>25.2</c:v>
                </c:pt>
                <c:pt idx="3">
                  <c:v>25.1</c:v>
                </c:pt>
              </c:numCache>
            </c:numRef>
          </c:val>
        </c:ser>
        <c:ser>
          <c:idx val="1"/>
          <c:order val="1"/>
          <c:tx>
            <c:strRef>
              <c:f>label 1</c:f>
              <c:strCache>
                <c:ptCount val="1"/>
                <c:pt idx="0">
                  <c:v>Share of asking value</c:v>
                </c:pt>
              </c:strCache>
            </c:strRef>
          </c:tx>
          <c:spPr>
            <a:solidFill>
              <a:srgbClr val="007c85"/>
            </a:solidFill>
            <a:ln w="0">
              <a:noFill/>
            </a:ln>
          </c:spPr>
          <c:invertIfNegative val="0"/>
          <c:dLbls>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0-4 years</c:v>
                </c:pt>
                <c:pt idx="1">
                  <c:v>5-9 years</c:v>
                </c:pt>
                <c:pt idx="2">
                  <c:v>10-14 years</c:v>
                </c:pt>
                <c:pt idx="3">
                  <c:v>15+ years</c:v>
                </c:pt>
              </c:strCache>
            </c:strRef>
          </c:cat>
          <c:val>
            <c:numRef>
              <c:f>1</c:f>
              <c:numCache>
                <c:formatCode>General</c:formatCode>
                <c:ptCount val="4"/>
                <c:pt idx="0">
                  <c:v>57.8</c:v>
                </c:pt>
                <c:pt idx="1">
                  <c:v>27.4</c:v>
                </c:pt>
                <c:pt idx="2">
                  <c:v>11.4</c:v>
                </c:pt>
                <c:pt idx="3">
                  <c:v>3.3</c:v>
                </c:pt>
              </c:numCache>
            </c:numRef>
          </c:val>
        </c:ser>
        <c:gapWidth val="55"/>
        <c:overlap val="-5"/>
        <c:axId val="47234474"/>
        <c:axId val="43164747"/>
      </c:barChart>
      <c:catAx>
        <c:axId val="47234474"/>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43164747"/>
        <c:crosses val="autoZero"/>
        <c:auto val="1"/>
        <c:lblAlgn val="ctr"/>
        <c:lblOffset val="100"/>
        <c:noMultiLvlLbl val="0"/>
      </c:catAx>
      <c:valAx>
        <c:axId val="43164747"/>
        <c:scaling>
          <c:orientation val="minMax"/>
          <c:max val="70"/>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47234474"/>
        <c:crossBetween val="between"/>
      </c:valAx>
      <c:spPr>
        <a:noFill/>
        <a:ln w="0">
          <a:noFill/>
        </a:ln>
      </c:spPr>
    </c:plotArea>
    <c:legend>
      <c:legendPos val="t"/>
      <c:overlay val="0"/>
      <c:spPr>
        <a:noFill/>
        <a:ln w="0">
          <a:noFill/>
        </a:ln>
      </c:spPr>
      <c:txPr>
        <a:bodyPr/>
        <a:lstStyle/>
        <a:p>
          <a:pPr>
            <a:defRPr b="0" sz="1600" spc="-1" strike="noStrike">
              <a:solidFill>
                <a:srgbClr val="2b3540"/>
              </a:solidFill>
              <a:latin typeface="Calibri"/>
            </a:defRPr>
          </a:pPr>
        </a:p>
      </c:txPr>
    </c:legend>
    <c:plotVisOnly val="1"/>
    <c:dispBlanksAs val="gap"/>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Share</c:v>
                </c:pt>
              </c:strCache>
            </c:strRef>
          </c:tx>
          <c:spPr>
            <a:solidFill>
              <a:srgbClr val="007c85"/>
            </a:solidFill>
            <a:ln w="0">
              <a:noFill/>
            </a:ln>
          </c:spPr>
          <c:invertIfNegative val="0"/>
          <c:dPt>
            <c:idx val="0"/>
            <c:invertIfNegative val="0"/>
            <c:spPr>
              <a:solidFill>
                <a:srgbClr val="007c85"/>
              </a:solidFill>
              <a:ln w="0">
                <a:noFill/>
              </a:ln>
            </c:spPr>
          </c:dPt>
          <c:dPt>
            <c:idx val="1"/>
            <c:invertIfNegative val="0"/>
            <c:spPr>
              <a:solidFill>
                <a:srgbClr val="007c85"/>
              </a:solidFill>
              <a:ln w="0">
                <a:noFill/>
              </a:ln>
            </c:spPr>
          </c:dPt>
          <c:dPt>
            <c:idx val="2"/>
            <c:invertIfNegative val="0"/>
            <c:spPr>
              <a:solidFill>
                <a:srgbClr val="b4bec8"/>
              </a:solidFill>
              <a:ln w="0">
                <a:noFill/>
              </a:ln>
            </c:spPr>
          </c:dPt>
          <c:dPt>
            <c:idx val="3"/>
            <c:invertIfNegative val="0"/>
            <c:spPr>
              <a:solidFill>
                <a:srgbClr val="b4bec8"/>
              </a:solidFill>
              <a:ln w="0">
                <a:noFill/>
              </a:ln>
            </c:spPr>
          </c:dPt>
          <c:dPt>
            <c:idx val="4"/>
            <c:invertIfNegative val="0"/>
            <c:spPr>
              <a:solidFill>
                <a:srgbClr val="b4bec8"/>
              </a:solidFill>
              <a:ln w="0">
                <a:noFill/>
              </a:ln>
            </c:spPr>
          </c:dPt>
          <c:dLbls>
            <c:numFmt formatCode="0.0\%" sourceLinked="0"/>
            <c:dLbl>
              <c:idx val="0"/>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dLbl>
            <c:dLbl>
              <c:idx val="4"/>
              <c:numFmt formatCode="0.0\%" sourceLinked="0"/>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dLbl>
            <c:txPr>
              <a:bodyPr wrap="square"/>
              <a:lstStyle/>
              <a:p>
                <a:pPr>
                  <a:defRPr b="1" sz="14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5"/>
                <c:pt idx="0">
                  <c:v>SUV</c:v>
                </c:pt>
                <c:pt idx="1">
                  <c:v>Sedan</c:v>
                </c:pt>
                <c:pt idx="2">
                  <c:v>Truck</c:v>
                </c:pt>
                <c:pt idx="3">
                  <c:v>Coupe</c:v>
                </c:pt>
                <c:pt idx="4">
                  <c:v>Hatchback</c:v>
                </c:pt>
              </c:strCache>
            </c:strRef>
          </c:cat>
          <c:val>
            <c:numRef>
              <c:f>0</c:f>
              <c:numCache>
                <c:formatCode>General</c:formatCode>
                <c:ptCount val="5"/>
                <c:pt idx="0">
                  <c:v>49.1</c:v>
                </c:pt>
                <c:pt idx="1">
                  <c:v>40.7</c:v>
                </c:pt>
                <c:pt idx="2">
                  <c:v>5.1</c:v>
                </c:pt>
                <c:pt idx="3">
                  <c:v>2.7</c:v>
                </c:pt>
                <c:pt idx="4">
                  <c:v>2.3</c:v>
                </c:pt>
              </c:numCache>
            </c:numRef>
          </c:val>
        </c:ser>
        <c:gapWidth val="55"/>
        <c:overlap val="-5"/>
        <c:axId val="64268699"/>
        <c:axId val="30359774"/>
      </c:barChart>
      <c:catAx>
        <c:axId val="64268699"/>
        <c:scaling>
          <c:orientation val="maxMin"/>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30359774"/>
        <c:crosses val="autoZero"/>
        <c:auto val="1"/>
        <c:lblAlgn val="ctr"/>
        <c:lblOffset val="100"/>
        <c:noMultiLvlLbl val="0"/>
      </c:catAx>
      <c:valAx>
        <c:axId val="30359774"/>
        <c:scaling>
          <c:orientation val="minMax"/>
          <c:max val="62"/>
          <c:min val="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64268699"/>
        <c:crossBetween val="between"/>
      </c:valAx>
      <c:spPr>
        <a:noFill/>
        <a:ln w="0">
          <a:noFill/>
        </a:ln>
      </c:spPr>
    </c:plotArea>
    <c:plotVisOnly val="1"/>
    <c:dispBlanksAs val="gap"/>
  </c:chart>
  <c:spPr>
    <a:no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Premium brands (of 50)</c:v>
                </c:pt>
              </c:strCache>
            </c:strRef>
          </c:tx>
          <c:spPr>
            <a:solidFill>
              <a:srgbClr val="13293d"/>
            </a:solidFill>
            <a:ln w="0">
              <a:noFill/>
            </a:ln>
          </c:spPr>
          <c:invertIfNegative val="0"/>
          <c:dLbls>
            <c:numFmt formatCode="0" sourceLinked="0"/>
            <c:txPr>
              <a:bodyPr wrap="square"/>
              <a:lstStyle/>
              <a:p>
                <a:pPr>
                  <a:defRPr b="1" sz="16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Largest dollar gaps</c:v>
                </c:pt>
                <c:pt idx="1">
                  <c:v>Largest percentage gaps</c:v>
                </c:pt>
                <c:pt idx="2">
                  <c:v>Balanced audit</c:v>
                </c:pt>
                <c:pt idx="3">
                  <c:v>Random controls</c:v>
                </c:pt>
              </c:strCache>
            </c:strRef>
          </c:cat>
          <c:val>
            <c:numRef>
              <c:f>0</c:f>
              <c:numCache>
                <c:formatCode>General</c:formatCode>
                <c:ptCount val="4"/>
                <c:pt idx="0">
                  <c:v>40</c:v>
                </c:pt>
                <c:pt idx="1">
                  <c:v>7</c:v>
                </c:pt>
                <c:pt idx="2">
                  <c:v>28</c:v>
                </c:pt>
                <c:pt idx="3">
                  <c:v>19</c:v>
                </c:pt>
              </c:numCache>
            </c:numRef>
          </c:val>
        </c:ser>
        <c:ser>
          <c:idx val="1"/>
          <c:order val="1"/>
          <c:tx>
            <c:strRef>
              <c:f>label 1</c:f>
              <c:strCache>
                <c:ptCount val="1"/>
                <c:pt idx="0">
                  <c:v>Priced at $500 (of 50)</c:v>
                </c:pt>
              </c:strCache>
            </c:strRef>
          </c:tx>
          <c:spPr>
            <a:solidFill>
              <a:srgbClr val="c8402f"/>
            </a:solidFill>
            <a:ln w="0">
              <a:noFill/>
            </a:ln>
          </c:spPr>
          <c:invertIfNegative val="0"/>
          <c:dLbls>
            <c:numFmt formatCode="0" sourceLinked="0"/>
            <c:txPr>
              <a:bodyPr wrap="square"/>
              <a:lstStyle/>
              <a:p>
                <a:pPr>
                  <a:defRPr b="1" sz="1600" spc="-1" strike="noStrike">
                    <a:solidFill>
                      <a:srgbClr val="13293d"/>
                    </a:solidFill>
                    <a:latin typeface="Calibri"/>
                  </a:defRPr>
                </a:pPr>
              </a:p>
            </c:txPr>
            <c:dLblPos val="outEnd"/>
            <c:showLegendKey val="0"/>
            <c:showVal val="1"/>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Largest dollar gaps</c:v>
                </c:pt>
                <c:pt idx="1">
                  <c:v>Largest percentage gaps</c:v>
                </c:pt>
                <c:pt idx="2">
                  <c:v>Balanced audit</c:v>
                </c:pt>
                <c:pt idx="3">
                  <c:v>Random controls</c:v>
                </c:pt>
              </c:strCache>
            </c:strRef>
          </c:cat>
          <c:val>
            <c:numRef>
              <c:f>1</c:f>
              <c:numCache>
                <c:formatCode>General</c:formatCode>
                <c:ptCount val="4"/>
                <c:pt idx="0">
                  <c:v>0</c:v>
                </c:pt>
                <c:pt idx="1">
                  <c:v>36</c:v>
                </c:pt>
                <c:pt idx="2">
                  <c:v>10</c:v>
                </c:pt>
                <c:pt idx="3">
                  <c:v>10</c:v>
                </c:pt>
              </c:numCache>
            </c:numRef>
          </c:val>
        </c:ser>
        <c:gapWidth val="60"/>
        <c:overlap val="-5"/>
        <c:axId val="99473361"/>
        <c:axId val="22276278"/>
      </c:barChart>
      <c:catAx>
        <c:axId val="99473361"/>
        <c:scaling>
          <c:orientation val="minMax"/>
        </c:scaling>
        <c:delete val="0"/>
        <c:axPos val="b"/>
        <c:numFmt formatCode="[$-409]mm/dd/yyyy" sourceLinked="1"/>
        <c:majorTickMark val="out"/>
        <c:minorTickMark val="none"/>
        <c:tickLblPos val="nextTo"/>
        <c:spPr>
          <a:ln w="9360">
            <a:solidFill>
              <a:srgbClr val="b4bec8"/>
            </a:solidFill>
            <a:round/>
          </a:ln>
        </c:spPr>
        <c:txPr>
          <a:bodyPr/>
          <a:lstStyle/>
          <a:p>
            <a:pPr>
              <a:defRPr b="0" sz="1600" spc="-1" strike="noStrike">
                <a:solidFill>
                  <a:srgbClr val="2b3540"/>
                </a:solidFill>
                <a:latin typeface="Calibri"/>
              </a:defRPr>
            </a:pPr>
          </a:p>
        </c:txPr>
        <c:crossAx val="22276278"/>
        <c:crosses val="autoZero"/>
        <c:auto val="1"/>
        <c:lblAlgn val="ctr"/>
        <c:lblOffset val="100"/>
        <c:noMultiLvlLbl val="0"/>
      </c:catAx>
      <c:valAx>
        <c:axId val="22276278"/>
        <c:scaling>
          <c:orientation val="minMax"/>
          <c:max val="50"/>
        </c:scaling>
        <c:delete val="1"/>
        <c:axPos val="l"/>
        <c:numFmt formatCode="General" sourceLinked="1"/>
        <c:majorTickMark val="out"/>
        <c:minorTickMark val="none"/>
        <c:tickLblPos val="nextTo"/>
        <c:spPr>
          <a:ln w="9360">
            <a:solidFill>
              <a:srgbClr val="878787"/>
            </a:solidFill>
            <a:round/>
          </a:ln>
        </c:spPr>
        <c:txPr>
          <a:bodyPr/>
          <a:lstStyle/>
          <a:p>
            <a:pPr>
              <a:defRPr b="0" sz="1600" spc="-1" strike="noStrike">
                <a:solidFill>
                  <a:srgbClr val="2b3540"/>
                </a:solidFill>
                <a:latin typeface="Calibri"/>
              </a:defRPr>
            </a:pPr>
          </a:p>
        </c:txPr>
        <c:crossAx val="99473361"/>
        <c:crossBetween val="between"/>
      </c:valAx>
      <c:spPr>
        <a:noFill/>
        <a:ln w="0">
          <a:noFill/>
        </a:ln>
      </c:spPr>
    </c:plotArea>
    <c:legend>
      <c:legendPos val="t"/>
      <c:overlay val="0"/>
      <c:spPr>
        <a:noFill/>
        <a:ln w="0">
          <a:noFill/>
        </a:ln>
      </c:spPr>
      <c:txPr>
        <a:bodyPr/>
        <a:lstStyle/>
        <a:p>
          <a:pPr>
            <a:defRPr b="0" sz="1600" spc="-1" strike="noStrike">
              <a:solidFill>
                <a:srgbClr val="2b3540"/>
              </a:solidFill>
              <a:latin typeface="Calibri"/>
            </a:defRPr>
          </a:pPr>
        </a:p>
      </c:txPr>
    </c:legend>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2FE7C04-4EDE-4369-9C65-0D50B509901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1143000" y="685800"/>
            <a:ext cx="4571640" cy="3428640"/>
          </a:xfrm>
          <a:prstGeom prst="rect">
            <a:avLst/>
          </a:prstGeom>
          <a:ln w="0">
            <a:noFill/>
          </a:ln>
        </p:spPr>
      </p:sp>
      <p:sp>
        <p:nvSpPr>
          <p:cNvPr id="2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analysed 5,500 listings to support pricing and inventory decisions. I will first show the data quality and observed relationships, then explain the model comparison and its limits. I will finish with the decisions we can support and the missing information needed for purchasing decisions. The full submitted deck includes the supporting evidence, with every slide visible.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task.pdf; dataset_clean.csv. All pages are visible. Full evidence deck for reading. The live route can summarise supporting pages to meet the task’s 2–5 minute limit.</a:t>
            </a:r>
            <a:endParaRPr b="0" lang="en-US" sz="2000" spc="-1" strike="noStrike">
              <a:solidFill>
                <a:srgbClr val="000000"/>
              </a:solidFill>
              <a:latin typeface="Arial"/>
            </a:endParaRPr>
          </a:p>
        </p:txBody>
      </p:sp>
      <p:sp>
        <p:nvSpPr>
          <p:cNvPr id="289"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2CF6261-36D4-4953-AB98-B51702531E4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1143000" y="685800"/>
            <a:ext cx="4571640" cy="3428640"/>
          </a:xfrm>
          <a:prstGeom prst="rect">
            <a:avLst/>
          </a:prstGeom>
          <a:ln w="0">
            <a:noFill/>
          </a:ln>
        </p:spPr>
      </p:sp>
      <p:sp>
        <p:nvSpPr>
          <p:cNvPr id="2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Only 1,329 rows are complete. Deleting every incomplete row would remove 75.8% of the data. I retained all rows, standardised categories and represented missing categorical information as Unknown. The age, mileage and owners inputs have no missing values. I preserved genuine numeric gaps rather than inventing values. I flagged the repeated minimum prices and mileage values for verification. The price-derived flag never enters the model because it reveals the target.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quality_report.json; decision/mileage_minimum_audit.json. All 5,500 listings.</a:t>
            </a:r>
            <a:endParaRPr b="0" lang="en-US" sz="2000" spc="-1" strike="noStrike">
              <a:solidFill>
                <a:srgbClr val="000000"/>
              </a:solidFill>
              <a:latin typeface="Arial"/>
            </a:endParaRPr>
          </a:p>
        </p:txBody>
      </p:sp>
      <p:sp>
        <p:nvSpPr>
          <p:cNvPr id="292"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415CAAA-411B-4694-AB2B-2727D1BE0F3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1143000" y="685800"/>
            <a:ext cx="4571640" cy="3428640"/>
          </a:xfrm>
          <a:prstGeom prst="rect">
            <a:avLst/>
          </a:prstGeom>
          <a:ln w="0">
            <a:noFill/>
          </a:ln>
        </p:spPr>
      </p:sp>
      <p:sp>
        <p:nvSpPr>
          <p:cNvPr id="2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median asking price falls with vehicle age, and the mileage plot shows a similar pattern. The lighter lines mark the 25th and 75th percentiles, or the middle half of listings at each age, not a confidence interval. Age and price have Spearman correlation minus 0.88 and mileage and price minus 0.83. Age and mileage correlate at 0.78, so their information overlaps. These plots establish association rather than an independent causal effect.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dataset_clean.csv; exploratory/tables/age_profile.csv; correlations.csv. All 5,500 listings.</a:t>
            </a:r>
            <a:endParaRPr b="0" lang="en-US" sz="2000" spc="-1" strike="noStrike">
              <a:solidFill>
                <a:srgbClr val="000000"/>
              </a:solidFill>
              <a:latin typeface="Arial"/>
            </a:endParaRPr>
          </a:p>
        </p:txBody>
      </p:sp>
      <p:sp>
        <p:nvSpPr>
          <p:cNvPr id="295"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3164A1B-5B09-4328-BECF-1949EB79DA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43000" y="685800"/>
            <a:ext cx="4571640" cy="3428640"/>
          </a:xfrm>
          <a:prstGeom prst="rect">
            <a:avLst/>
          </a:prstGeom>
          <a:ln w="0">
            <a:noFill/>
          </a:ln>
        </p:spPr>
      </p:sp>
      <p:sp>
        <p:nvSpPr>
          <p:cNvPr id="2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rank correlation describes whether higher values tend to accompany higher or lower prices. The age, mileage and owners relationships remain negative after excluding the $500 listings, so they are not solely a minimum-price effect. Engine size and horsepower have weak overall monotonic associations in both populations. This does not prove they never matter within a specific model or trim. Owners also overlaps with age and mileage. I would avoid interpreting any raw correlation as a separate causal contribution.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exploratory/tables/correlations.csv. Spearman correlations, available records per variable.</a:t>
            </a:r>
            <a:endParaRPr b="0" lang="en-US" sz="2000" spc="-1" strike="noStrike">
              <a:solidFill>
                <a:srgbClr val="000000"/>
              </a:solidFill>
              <a:latin typeface="Arial"/>
            </a:endParaRPr>
          </a:p>
        </p:txBody>
      </p:sp>
      <p:sp>
        <p:nvSpPr>
          <p:cNvPr id="298"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28BE9AE-CCE6-4727-8337-26657C0AAA4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1143000" y="685800"/>
            <a:ext cx="4571640" cy="3428640"/>
          </a:xfrm>
          <a:prstGeom prst="rect">
            <a:avLst/>
          </a:prstGeom>
          <a:ln w="0">
            <a:noFill/>
          </a:ln>
        </p:spPr>
      </p:sp>
      <p:sp>
        <p:nvSpPr>
          <p:cNvPr id="3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For accident history, I compare cars within the same model and age and mileage blocks. The retained accident group is about $2,315 lower, but only about 16% of each group overlaps. Widening the age blocks changes the gap to about $1,798 and changes coverage, showing sensitivity to the comparison design. Service comparisons retain mainly very young cars and little of the data, so I withhold a fleet-wide premium. SUV and sedan differences include model mix because model is not controlled. Bootstrap intervals reflect resampling within retained groups and do not remove confounding.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decision/comparable_group_summary.csv. All listings; 3-year age blocks and 50,000-mile blocks.</a:t>
            </a:r>
            <a:endParaRPr b="0" lang="en-US" sz="2000" spc="-1" strike="noStrike">
              <a:solidFill>
                <a:srgbClr val="000000"/>
              </a:solidFill>
              <a:latin typeface="Arial"/>
            </a:endParaRPr>
          </a:p>
        </p:txBody>
      </p:sp>
      <p:sp>
        <p:nvSpPr>
          <p:cNvPr id="301"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2E7EFD2-7017-408F-8EF6-8031382603E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1143000" y="685800"/>
            <a:ext cx="4571640" cy="3428640"/>
          </a:xfrm>
          <a:prstGeom prst="rect">
            <a:avLst/>
          </a:prstGeom>
          <a:ln w="0">
            <a:noFill/>
          </a:ln>
        </p:spPr>
      </p:sp>
      <p:sp>
        <p:nvSpPr>
          <p:cNvPr id="30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baseline predicts the training median for every listing. Its average error is about $9,696. Age and mileage reduce this to $5,574, curved relationships to $4,658, and adding vehicle model to $2,832. Removing model from the full staged specification raises error to $4,701. These are fixed development comparisons, not test scores. Some unconstrained stages produce negative estimates and serve as diagnostic comparisons only. More variables do not automatically improve predictions: condition adds a small gain and the other attributes do not improve this specification.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exploratory/tables/fixed_staged_models.csv. Same five development folds, 4,400 rows.</a:t>
            </a:r>
            <a:endParaRPr b="0" lang="en-US" sz="2000" spc="-1" strike="noStrike">
              <a:solidFill>
                <a:srgbClr val="000000"/>
              </a:solidFill>
              <a:latin typeface="Arial"/>
            </a:endParaRPr>
          </a:p>
        </p:txBody>
      </p:sp>
      <p:sp>
        <p:nvSpPr>
          <p:cNvPr id="304"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2F07683-4060-4CC4-A814-67E4FC4F788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1143000" y="685800"/>
            <a:ext cx="4571640" cy="3428640"/>
          </a:xfrm>
          <a:prstGeom prst="rect">
            <a:avLst/>
          </a:prstGeom>
          <a:ln w="0">
            <a:noFill/>
          </a:ln>
        </p:spPr>
      </p:sp>
      <p:sp>
        <p:nvSpPr>
          <p:cNvPr id="30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evaluated one predeclared search: one baseline, 48 Ridge and 36 forest settings. All candidates used the same five development folds. Exact recorded descriptions stayed together, although these groups cannot replace VIN-based identity. I chose the simpler candidate within one approximate CV standard error of the best score. The 500-tree candidate improved CV MAE by only $4. The selected forest uses 250 trees, unrestricted maximum depth, minimum two records per leaf and all features at each split. I froze the choice before scoring the reserved sample. The Ridge comparison is the fixed reference, not the best tuned Ridge.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tuning/search_results.csv; selected_parameters.json; test_metrics.csv. 1,100 reserved rows, 859 above $500.</a:t>
            </a:r>
            <a:endParaRPr b="0" lang="en-US" sz="2000" spc="-1" strike="noStrike">
              <a:solidFill>
                <a:srgbClr val="000000"/>
              </a:solidFill>
              <a:latin typeface="Arial"/>
            </a:endParaRPr>
          </a:p>
        </p:txBody>
      </p:sp>
      <p:sp>
        <p:nvSpPr>
          <p:cNvPr id="307"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4A3B565-F9A3-4C73-89B8-CD1B0187CB8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43000" y="685800"/>
            <a:ext cx="4571640" cy="3428640"/>
          </a:xfrm>
          <a:prstGeom prst="rect">
            <a:avLst/>
          </a:prstGeom>
          <a:ln w="0">
            <a:noFill/>
          </a:ln>
        </p:spPr>
      </p:sp>
      <p:sp>
        <p:nvSpPr>
          <p:cNvPr id="30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overall average error hides segment differences. At $500 the MAE is $204. Above $30,000 it is $3,169, and the average signed residual is plus $1,833: asking prices are above the estimates on average. Across all reserved listings the 90th percentile absolute error is $3,384. That is an error summary, not a prediction interval for each car. These limitations matter before using estimates for repricing or reviewing an expensive vehicle.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tuning/test_errors_by_price_band.csv. Selected model C080, reserved listings only.</a:t>
            </a:r>
            <a:endParaRPr b="0" lang="en-US" sz="2000" spc="-1" strike="noStrike">
              <a:solidFill>
                <a:srgbClr val="000000"/>
              </a:solidFill>
              <a:latin typeface="Arial"/>
            </a:endParaRPr>
          </a:p>
        </p:txBody>
      </p:sp>
      <p:sp>
        <p:nvSpPr>
          <p:cNvPr id="310"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B527DAB-6FD9-4B5C-9F56-AE647BEBA4F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1143000" y="685800"/>
            <a:ext cx="4571640" cy="3428640"/>
          </a:xfrm>
          <a:prstGeom prst="rect">
            <a:avLst/>
          </a:prstGeom>
          <a:ln w="0">
            <a:noFill/>
          </a:ln>
        </p:spPr>
      </p:sp>
      <p:sp>
        <p:nvSpPr>
          <p:cNvPr id="31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age groups have roughly equal numbers of listings, but their asking values differ greatly. Ages zero to nine represent 49.7% of records and 85.3% of asking value. SUVs and sedans dominate the sample, at 49.1% and 40.7% of listings. These are composition and asking-price observations, not demand, profit, or invested capital. They support a starting focus for price-comparison work and a separate assessment of old minimum-priced listings. They do not support a new purchase ratio.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management/age_concentration.csv; dataset_clean.csv. Asking value is the sum of listed prices.</a:t>
            </a:r>
            <a:endParaRPr b="0" lang="en-US" sz="2000" spc="-1" strike="noStrike">
              <a:solidFill>
                <a:srgbClr val="000000"/>
              </a:solidFill>
              <a:latin typeface="Arial"/>
            </a:endParaRPr>
          </a:p>
        </p:txBody>
      </p:sp>
      <p:sp>
        <p:nvSpPr>
          <p:cNvPr id="313"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3F3CDDF-4AD2-46CC-8B6A-3A37FD06F02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1143000" y="685800"/>
            <a:ext cx="4571640" cy="3428640"/>
          </a:xfrm>
          <a:prstGeom prst="rect">
            <a:avLst/>
          </a:prstGeom>
          <a:ln w="0">
            <a:noFill/>
          </a:ln>
        </p:spPr>
      </p:sp>
      <p:sp>
        <p:nvSpPr>
          <p:cNvPr id="3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tested how different rankings select records. Dollar gaps chose 40 premium cars out of 50. Percentage gaps chose 36 $500 records. A balanced audit and random controls each use ten records per price band, but premium composition still differs, 28 versus 19. This is completed analysis of selection patterns. It does not establish mispricing. A real issue check needs verified condition, trim and independent comparable prices that this CSV lacks. The proposed review comparison measures actionable findings and review time. It is supporting validation rather than the main analytical result.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decision/queue_composition.csv; balanced_audit.csv; random_controls.csv. Development CV predictions.</a:t>
            </a:r>
            <a:endParaRPr b="0" lang="en-US" sz="2000" spc="-1" strike="noStrike">
              <a:solidFill>
                <a:srgbClr val="000000"/>
              </a:solidFill>
              <a:latin typeface="Arial"/>
            </a:endParaRPr>
          </a:p>
        </p:txBody>
      </p:sp>
      <p:sp>
        <p:nvSpPr>
          <p:cNvPr id="316"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03D5830-92B6-447B-8636-BC9A2EBBE7C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1143000" y="685800"/>
            <a:ext cx="4571640" cy="3428640"/>
          </a:xfrm>
          <a:prstGeom prst="rect">
            <a:avLst/>
          </a:prstGeom>
          <a:ln w="0">
            <a:noFill/>
          </a:ln>
        </p:spPr>
      </p:sp>
      <p:sp>
        <p:nvSpPr>
          <p:cNvPr id="3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key technical conclusions are clear. Age, mileage and model matter for asking-price comparisons. We retain missing categories explicitly and verify repeated minima. The tuned model improves internal predictive results, but high-price error and absent future validation prevent automatic repricing. The inventory observations describe the listing mix and asking values. Profit, turnover and purchasing allocation need actual costs, sale prices and dates. The next work should resolve those gaps rather than add more algorithms.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Source: All preceding source files. Recommendations distinguish measured findings from proposed actions.</a:t>
            </a:r>
            <a:endParaRPr b="0" lang="en-US" sz="2000" spc="-1" strike="noStrike">
              <a:solidFill>
                <a:srgbClr val="000000"/>
              </a:solidFill>
              <a:latin typeface="Arial"/>
            </a:endParaRPr>
          </a:p>
        </p:txBody>
      </p:sp>
      <p:sp>
        <p:nvSpPr>
          <p:cNvPr id="319"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D866276-37C7-423D-9C92-5464811E6A2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FD2F1BA-2250-4692-9D91-624CDA289E8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DE9A910-BBBA-4D0F-993A-3145D5E74D6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B0533691-2E92-45B8-8B17-161D7F1C3524}"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5B22D88-3F0B-4D68-8F9E-1AA19506C764}"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235A810-2ABD-4432-BABB-99FC2B89A3C4}"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03DE203C-00E8-4D8F-B856-0FA37D6F8900}"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1CBC69B-4872-43A9-A8A1-BC15EB32AF1B}"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C46BA879-AC68-4A9D-A03C-963431A4C2E0}"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47ADCFF-A60A-4244-877B-C60614840E40}"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0C9DCED0-94E5-4383-A90D-0D9499E6F30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DB8D890C-577A-475B-B6A2-9C13537B609C}"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8F8FB48-D986-4B4E-A9A8-32C29581BE6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19ECB52-7147-45BA-BA18-88A152FCAA4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284E09D-06C6-4F8C-B3D7-6C42294F76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5226E27-D6BD-4151-9B25-915157689A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a:t>
            </a:r>
            <a:r>
              <a:rPr b="1" lang="en-US" sz="4000" spc="-1" strike="noStrike" cap="all">
                <a:solidFill>
                  <a:schemeClr val="dk1"/>
                </a:solidFill>
                <a:latin typeface="Calibri"/>
              </a:rPr>
              <a:t>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41EBEFA-047B-4243-8873-0B74131098B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ADA6C5A-2C9D-4CFC-AE29-517E56E372B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541B39C-E59C-4662-86F5-59F8B35517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44BE8A2-E1B1-45E7-827F-0B6D5B9B342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4F040F0-3ED8-4D4B-B177-E75FFD1F113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D4C3638-BB07-4965-80C2-30B0CF808DF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D296B60-26BC-456D-8498-5E4A71739E9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png"/><Relationship Id="rId3" Type="http://schemas.openxmlformats.org/officeDocument/2006/relationships/slideLayout" Target="../slideLayouts/slideLayout9.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slideLayout" Target="../slideLayouts/slideLayout9.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4845960" cy="685764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Rectangle 2"/>
          <p:cNvSpPr/>
          <p:nvPr/>
        </p:nvSpPr>
        <p:spPr>
          <a:xfrm>
            <a:off x="4846320" y="0"/>
            <a:ext cx="63720" cy="685764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3"/>
          <p:cNvSpPr/>
          <p:nvPr/>
        </p:nvSpPr>
        <p:spPr>
          <a:xfrm>
            <a:off x="548640" y="548640"/>
            <a:ext cx="402300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7fd1d6"/>
                </a:solidFill>
                <a:latin typeface="Calibri"/>
              </a:rPr>
              <a:t>USED CAR RETAILER STRATEGY REVIEW</a:t>
            </a:r>
            <a:endParaRPr b="0" lang="en-US" sz="1200" spc="-1" strike="noStrike">
              <a:solidFill>
                <a:srgbClr val="000000"/>
              </a:solidFill>
              <a:latin typeface="Arial"/>
            </a:endParaRPr>
          </a:p>
        </p:txBody>
      </p:sp>
      <p:sp>
        <p:nvSpPr>
          <p:cNvPr id="76" name="TextBox 4"/>
          <p:cNvSpPr/>
          <p:nvPr/>
        </p:nvSpPr>
        <p:spPr>
          <a:xfrm>
            <a:off x="548640" y="1371600"/>
            <a:ext cx="4023000" cy="1738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ffffff"/>
                </a:solidFill>
                <a:latin typeface="Calibri"/>
              </a:rPr>
              <a:t>Pricing patterns and inventory decisions</a:t>
            </a:r>
            <a:endParaRPr b="0" lang="en-US" sz="3800" spc="-1" strike="noStrike">
              <a:solidFill>
                <a:srgbClr val="000000"/>
              </a:solidFill>
              <a:latin typeface="Arial"/>
            </a:endParaRPr>
          </a:p>
        </p:txBody>
      </p:sp>
      <p:sp>
        <p:nvSpPr>
          <p:cNvPr id="77" name="TextBox 5"/>
          <p:cNvSpPr/>
          <p:nvPr/>
        </p:nvSpPr>
        <p:spPr>
          <a:xfrm>
            <a:off x="548640" y="5806440"/>
            <a:ext cx="402300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ffffff"/>
                </a:solidFill>
                <a:latin typeface="Calibri"/>
              </a:rPr>
              <a:t>Mohammed Ayan Syed</a:t>
            </a:r>
            <a:endParaRPr b="0" lang="en-US" sz="1500" spc="-1" strike="noStrike">
              <a:solidFill>
                <a:srgbClr val="000000"/>
              </a:solidFill>
              <a:latin typeface="Arial"/>
            </a:endParaRPr>
          </a:p>
        </p:txBody>
      </p:sp>
      <p:sp>
        <p:nvSpPr>
          <p:cNvPr id="78" name="TextBox 6"/>
          <p:cNvSpPr/>
          <p:nvPr/>
        </p:nvSpPr>
        <p:spPr>
          <a:xfrm>
            <a:off x="548640" y="6126480"/>
            <a:ext cx="40230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7fd1d6"/>
                </a:solidFill>
                <a:latin typeface="Calibri"/>
              </a:rPr>
              <a:t>October 2026</a:t>
            </a:r>
            <a:endParaRPr b="0" lang="en-US" sz="1300" spc="-1" strike="noStrike">
              <a:solidFill>
                <a:srgbClr val="000000"/>
              </a:solidFill>
              <a:latin typeface="Arial"/>
            </a:endParaRPr>
          </a:p>
        </p:txBody>
      </p:sp>
      <p:sp>
        <p:nvSpPr>
          <p:cNvPr id="79" name="TextBox 7"/>
          <p:cNvSpPr/>
          <p:nvPr/>
        </p:nvSpPr>
        <p:spPr>
          <a:xfrm>
            <a:off x="5394960" y="685800"/>
            <a:ext cx="62175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OBJECTIVE</a:t>
            </a:r>
            <a:endParaRPr b="0" lang="en-US" sz="1200" spc="-1" strike="noStrike">
              <a:solidFill>
                <a:srgbClr val="000000"/>
              </a:solidFill>
              <a:latin typeface="Arial"/>
            </a:endParaRPr>
          </a:p>
        </p:txBody>
      </p:sp>
      <p:sp>
        <p:nvSpPr>
          <p:cNvPr id="80" name="TextBox 8"/>
          <p:cNvSpPr/>
          <p:nvPr/>
        </p:nvSpPr>
        <p:spPr>
          <a:xfrm>
            <a:off x="5394960" y="1005840"/>
            <a:ext cx="621756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800" spc="-1" strike="noStrike">
                <a:solidFill>
                  <a:srgbClr val="2b3540"/>
                </a:solidFill>
                <a:latin typeface="Calibri"/>
              </a:rPr>
              <a:t>Explain what the listing data tells us, how we reached the findings, and what the teams can act on.</a:t>
            </a:r>
            <a:endParaRPr b="0" lang="en-US" sz="1800" spc="-1" strike="noStrike">
              <a:solidFill>
                <a:srgbClr val="000000"/>
              </a:solidFill>
              <a:latin typeface="Arial"/>
            </a:endParaRPr>
          </a:p>
        </p:txBody>
      </p:sp>
      <p:sp>
        <p:nvSpPr>
          <p:cNvPr id="81" name="TextBox 9"/>
          <p:cNvSpPr/>
          <p:nvPr/>
        </p:nvSpPr>
        <p:spPr>
          <a:xfrm>
            <a:off x="5394960" y="2423160"/>
            <a:ext cx="62175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QUESTIONS THIS PRESENTATION ANSWERS</a:t>
            </a:r>
            <a:endParaRPr b="0" lang="en-US" sz="1200" spc="-1" strike="noStrike">
              <a:solidFill>
                <a:srgbClr val="000000"/>
              </a:solidFill>
              <a:latin typeface="Arial"/>
            </a:endParaRPr>
          </a:p>
        </p:txBody>
      </p:sp>
      <p:sp>
        <p:nvSpPr>
          <p:cNvPr id="82" name="Rectangle 10"/>
          <p:cNvSpPr/>
          <p:nvPr/>
        </p:nvSpPr>
        <p:spPr>
          <a:xfrm>
            <a:off x="5394960" y="278892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3" name="Rectangle 11"/>
          <p:cNvSpPr/>
          <p:nvPr/>
        </p:nvSpPr>
        <p:spPr>
          <a:xfrm>
            <a:off x="5394960" y="278892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 name="TextBox 12"/>
          <p:cNvSpPr/>
          <p:nvPr/>
        </p:nvSpPr>
        <p:spPr>
          <a:xfrm>
            <a:off x="5669280" y="297108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1</a:t>
            </a:r>
            <a:endParaRPr b="0" lang="en-US" sz="2400" spc="-1" strike="noStrike">
              <a:solidFill>
                <a:srgbClr val="000000"/>
              </a:solidFill>
              <a:latin typeface="Arial"/>
            </a:endParaRPr>
          </a:p>
        </p:txBody>
      </p:sp>
      <p:sp>
        <p:nvSpPr>
          <p:cNvPr id="85" name="TextBox 13"/>
          <p:cNvSpPr/>
          <p:nvPr/>
        </p:nvSpPr>
        <p:spPr>
          <a:xfrm>
            <a:off x="6217920" y="3039840"/>
            <a:ext cx="53031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What information explains differences in asking prices?</a:t>
            </a:r>
            <a:endParaRPr b="0" lang="en-US" sz="1500" spc="-1" strike="noStrike">
              <a:solidFill>
                <a:srgbClr val="000000"/>
              </a:solidFill>
              <a:latin typeface="Arial"/>
            </a:endParaRPr>
          </a:p>
        </p:txBody>
      </p:sp>
      <p:sp>
        <p:nvSpPr>
          <p:cNvPr id="86" name="Rectangle 14"/>
          <p:cNvSpPr/>
          <p:nvPr/>
        </p:nvSpPr>
        <p:spPr>
          <a:xfrm>
            <a:off x="5394960" y="365760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 name="Rectangle 15"/>
          <p:cNvSpPr/>
          <p:nvPr/>
        </p:nvSpPr>
        <p:spPr>
          <a:xfrm>
            <a:off x="5394960" y="365760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 name="TextBox 16"/>
          <p:cNvSpPr/>
          <p:nvPr/>
        </p:nvSpPr>
        <p:spPr>
          <a:xfrm>
            <a:off x="5669280" y="383976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2</a:t>
            </a:r>
            <a:endParaRPr b="0" lang="en-US" sz="2400" spc="-1" strike="noStrike">
              <a:solidFill>
                <a:srgbClr val="000000"/>
              </a:solidFill>
              <a:latin typeface="Arial"/>
            </a:endParaRPr>
          </a:p>
        </p:txBody>
      </p:sp>
      <p:sp>
        <p:nvSpPr>
          <p:cNvPr id="89" name="TextBox 17"/>
          <p:cNvSpPr/>
          <p:nvPr/>
        </p:nvSpPr>
        <p:spPr>
          <a:xfrm>
            <a:off x="6217920" y="3908520"/>
            <a:ext cx="53031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How reliable are the estimates and comparisons?</a:t>
            </a:r>
            <a:endParaRPr b="0" lang="en-US" sz="1500" spc="-1" strike="noStrike">
              <a:solidFill>
                <a:srgbClr val="000000"/>
              </a:solidFill>
              <a:latin typeface="Arial"/>
            </a:endParaRPr>
          </a:p>
        </p:txBody>
      </p:sp>
      <p:sp>
        <p:nvSpPr>
          <p:cNvPr id="90" name="Rectangle 18"/>
          <p:cNvSpPr/>
          <p:nvPr/>
        </p:nvSpPr>
        <p:spPr>
          <a:xfrm>
            <a:off x="5394960" y="4526280"/>
            <a:ext cx="6244920" cy="731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 name="Rectangle 19"/>
          <p:cNvSpPr/>
          <p:nvPr/>
        </p:nvSpPr>
        <p:spPr>
          <a:xfrm>
            <a:off x="5394960" y="4526280"/>
            <a:ext cx="72720" cy="7311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20"/>
          <p:cNvSpPr/>
          <p:nvPr/>
        </p:nvSpPr>
        <p:spPr>
          <a:xfrm>
            <a:off x="5669280" y="4708440"/>
            <a:ext cx="456840" cy="36648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400" spc="-1" strike="noStrike">
                <a:solidFill>
                  <a:srgbClr val="007c85"/>
                </a:solidFill>
                <a:latin typeface="Calibri"/>
              </a:rPr>
              <a:t>3</a:t>
            </a:r>
            <a:endParaRPr b="0" lang="en-US" sz="2400" spc="-1" strike="noStrike">
              <a:solidFill>
                <a:srgbClr val="000000"/>
              </a:solidFill>
              <a:latin typeface="Arial"/>
            </a:endParaRPr>
          </a:p>
        </p:txBody>
      </p:sp>
      <p:sp>
        <p:nvSpPr>
          <p:cNvPr id="93" name="TextBox 21"/>
          <p:cNvSpPr/>
          <p:nvPr/>
        </p:nvSpPr>
        <p:spPr>
          <a:xfrm>
            <a:off x="6217920" y="4662720"/>
            <a:ext cx="5303160" cy="4579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500" spc="-1" strike="noStrike">
                <a:solidFill>
                  <a:srgbClr val="2b3540"/>
                </a:solidFill>
                <a:latin typeface="Calibri"/>
              </a:rPr>
              <a:t>Which decisions are supported, and what evidence is still missing?</a:t>
            </a:r>
            <a:endParaRPr b="0" lang="en-US" sz="1500" spc="-1" strike="noStrike">
              <a:solidFill>
                <a:srgbClr val="000000"/>
              </a:solidFill>
              <a:latin typeface="Arial"/>
            </a:endParaRPr>
          </a:p>
        </p:txBody>
      </p:sp>
      <p:sp>
        <p:nvSpPr>
          <p:cNvPr id="94" name="TextBox 22"/>
          <p:cNvSpPr/>
          <p:nvPr/>
        </p:nvSpPr>
        <p:spPr>
          <a:xfrm>
            <a:off x="5394960" y="5669280"/>
            <a:ext cx="6217560" cy="39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5b6876"/>
                </a:solidFill>
                <a:latin typeface="Calibri"/>
              </a:rPr>
              <a:t>Scope: 5,500 listings. Prices are asking prices. Vehicle age uses reference year 2024.</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96"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What can we trust in the cleaned data?</a:t>
            </a:r>
            <a:endParaRPr b="0" lang="en-US" sz="2900" spc="-1" strike="noStrike">
              <a:solidFill>
                <a:srgbClr val="000000"/>
              </a:solidFill>
              <a:latin typeface="Arial"/>
            </a:endParaRPr>
          </a:p>
        </p:txBody>
      </p:sp>
      <p:sp>
        <p:nvSpPr>
          <p:cNvPr id="97"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Keeping incomplete records preserves coverage. Repeated minimum values need source verification.</a:t>
            </a:r>
            <a:endParaRPr b="0" lang="en-US" sz="1600" spc="-1" strike="noStrike">
              <a:solidFill>
                <a:srgbClr val="000000"/>
              </a:solidFill>
              <a:latin typeface="Arial"/>
            </a:endParaRPr>
          </a:p>
        </p:txBody>
      </p:sp>
      <p:sp>
        <p:nvSpPr>
          <p:cNvPr id="98"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99"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quality_report.json; decision/mileage_minimum_audit.json. All 5,500 listings.</a:t>
            </a:r>
            <a:endParaRPr b="0" lang="en-US" sz="1100" spc="-1" strike="noStrike">
              <a:solidFill>
                <a:srgbClr val="000000"/>
              </a:solidFill>
              <a:latin typeface="Arial"/>
            </a:endParaRPr>
          </a:p>
        </p:txBody>
      </p:sp>
      <p:sp>
        <p:nvSpPr>
          <p:cNvPr id="100"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02</a:t>
            </a:r>
            <a:endParaRPr b="0" lang="en-US" sz="1100" spc="-1" strike="noStrike">
              <a:solidFill>
                <a:srgbClr val="000000"/>
              </a:solidFill>
              <a:latin typeface="Arial"/>
            </a:endParaRPr>
          </a:p>
        </p:txBody>
      </p:sp>
      <p:sp>
        <p:nvSpPr>
          <p:cNvPr id="101" name="Rectangle 7"/>
          <p:cNvSpPr/>
          <p:nvPr/>
        </p:nvSpPr>
        <p:spPr>
          <a:xfrm>
            <a:off x="548640" y="1920240"/>
            <a:ext cx="2651400" cy="3017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 name="Rectangle 8"/>
          <p:cNvSpPr/>
          <p:nvPr/>
        </p:nvSpPr>
        <p:spPr>
          <a:xfrm>
            <a:off x="548640" y="1920240"/>
            <a:ext cx="72720" cy="30171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 name="TextBox 9"/>
          <p:cNvSpPr/>
          <p:nvPr/>
        </p:nvSpPr>
        <p:spPr>
          <a:xfrm>
            <a:off x="822960" y="203004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13293d"/>
                </a:solidFill>
                <a:latin typeface="Calibri"/>
              </a:rPr>
              <a:t>1,329</a:t>
            </a:r>
            <a:endParaRPr b="0" lang="en-US" sz="3600" spc="-1" strike="noStrike">
              <a:solidFill>
                <a:srgbClr val="000000"/>
              </a:solidFill>
              <a:latin typeface="Arial"/>
            </a:endParaRPr>
          </a:p>
        </p:txBody>
      </p:sp>
      <p:sp>
        <p:nvSpPr>
          <p:cNvPr id="104" name="TextBox 10"/>
          <p:cNvSpPr/>
          <p:nvPr/>
        </p:nvSpPr>
        <p:spPr>
          <a:xfrm>
            <a:off x="822960" y="2715840"/>
            <a:ext cx="223992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complete rows out of 5,500</a:t>
            </a:r>
            <a:endParaRPr b="0" lang="en-US" sz="1400" spc="-1" strike="noStrike">
              <a:solidFill>
                <a:srgbClr val="000000"/>
              </a:solidFill>
              <a:latin typeface="Arial"/>
            </a:endParaRPr>
          </a:p>
        </p:txBody>
      </p:sp>
      <p:sp>
        <p:nvSpPr>
          <p:cNvPr id="105" name="TextBox 11"/>
          <p:cNvSpPr/>
          <p:nvPr/>
        </p:nvSpPr>
        <p:spPr>
          <a:xfrm>
            <a:off x="822960" y="321876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Retain all rows. Deleting incomplete rows would lose 75.8%.</a:t>
            </a:r>
            <a:endParaRPr b="0" lang="en-US" sz="1200" spc="-1" strike="noStrike">
              <a:solidFill>
                <a:srgbClr val="000000"/>
              </a:solidFill>
              <a:latin typeface="Arial"/>
            </a:endParaRPr>
          </a:p>
        </p:txBody>
      </p:sp>
      <p:sp>
        <p:nvSpPr>
          <p:cNvPr id="106" name="Rectangle 12"/>
          <p:cNvSpPr/>
          <p:nvPr/>
        </p:nvSpPr>
        <p:spPr>
          <a:xfrm>
            <a:off x="3346560" y="1920240"/>
            <a:ext cx="2651400" cy="3017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Rectangle 13"/>
          <p:cNvSpPr/>
          <p:nvPr/>
        </p:nvSpPr>
        <p:spPr>
          <a:xfrm>
            <a:off x="3346560" y="1920240"/>
            <a:ext cx="72720" cy="301716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 name="TextBox 14"/>
          <p:cNvSpPr/>
          <p:nvPr/>
        </p:nvSpPr>
        <p:spPr>
          <a:xfrm>
            <a:off x="3620880" y="203004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13293d"/>
                </a:solidFill>
                <a:latin typeface="Calibri"/>
              </a:rPr>
              <a:t>14-16%</a:t>
            </a:r>
            <a:endParaRPr b="0" lang="en-US" sz="3600" spc="-1" strike="noStrike">
              <a:solidFill>
                <a:srgbClr val="000000"/>
              </a:solidFill>
              <a:latin typeface="Arial"/>
            </a:endParaRPr>
          </a:p>
        </p:txBody>
      </p:sp>
      <p:sp>
        <p:nvSpPr>
          <p:cNvPr id="109" name="TextBox 15"/>
          <p:cNvSpPr/>
          <p:nvPr/>
        </p:nvSpPr>
        <p:spPr>
          <a:xfrm>
            <a:off x="3620880" y="2715840"/>
            <a:ext cx="223992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missing in nine fields</a:t>
            </a:r>
            <a:endParaRPr b="0" lang="en-US" sz="1400" spc="-1" strike="noStrike">
              <a:solidFill>
                <a:srgbClr val="000000"/>
              </a:solidFill>
              <a:latin typeface="Arial"/>
            </a:endParaRPr>
          </a:p>
        </p:txBody>
      </p:sp>
      <p:sp>
        <p:nvSpPr>
          <p:cNvPr id="110" name="TextBox 16"/>
          <p:cNvSpPr/>
          <p:nvPr/>
        </p:nvSpPr>
        <p:spPr>
          <a:xfrm>
            <a:off x="3620880" y="321876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Keep Unknown visible. Numeric model inputs have no gaps.</a:t>
            </a:r>
            <a:endParaRPr b="0" lang="en-US" sz="1200" spc="-1" strike="noStrike">
              <a:solidFill>
                <a:srgbClr val="000000"/>
              </a:solidFill>
              <a:latin typeface="Arial"/>
            </a:endParaRPr>
          </a:p>
        </p:txBody>
      </p:sp>
      <p:sp>
        <p:nvSpPr>
          <p:cNvPr id="111" name="Rectangle 17"/>
          <p:cNvSpPr/>
          <p:nvPr/>
        </p:nvSpPr>
        <p:spPr>
          <a:xfrm>
            <a:off x="6144840" y="1920240"/>
            <a:ext cx="2651400" cy="3017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 name="Rectangle 18"/>
          <p:cNvSpPr/>
          <p:nvPr/>
        </p:nvSpPr>
        <p:spPr>
          <a:xfrm>
            <a:off x="6144840" y="1920240"/>
            <a:ext cx="72720" cy="301716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 name="TextBox 19"/>
          <p:cNvSpPr/>
          <p:nvPr/>
        </p:nvSpPr>
        <p:spPr>
          <a:xfrm>
            <a:off x="6419160" y="203004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c8402f"/>
                </a:solidFill>
                <a:latin typeface="Calibri"/>
              </a:rPr>
              <a:t>22.1%</a:t>
            </a:r>
            <a:endParaRPr b="0" lang="en-US" sz="3600" spc="-1" strike="noStrike">
              <a:solidFill>
                <a:srgbClr val="000000"/>
              </a:solidFill>
              <a:latin typeface="Arial"/>
            </a:endParaRPr>
          </a:p>
        </p:txBody>
      </p:sp>
      <p:sp>
        <p:nvSpPr>
          <p:cNvPr id="114" name="TextBox 20"/>
          <p:cNvSpPr/>
          <p:nvPr/>
        </p:nvSpPr>
        <p:spPr>
          <a:xfrm>
            <a:off x="6419160" y="2715840"/>
            <a:ext cx="223992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1,216 prices exactly $500</a:t>
            </a:r>
            <a:endParaRPr b="0" lang="en-US" sz="1400" spc="-1" strike="noStrike">
              <a:solidFill>
                <a:srgbClr val="000000"/>
              </a:solidFill>
              <a:latin typeface="Arial"/>
            </a:endParaRPr>
          </a:p>
        </p:txBody>
      </p:sp>
      <p:sp>
        <p:nvSpPr>
          <p:cNvPr id="115" name="TextBox 21"/>
          <p:cNvSpPr/>
          <p:nvPr/>
        </p:nvSpPr>
        <p:spPr>
          <a:xfrm>
            <a:off x="6419160" y="3218760"/>
            <a:ext cx="223992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Flag the recorded pattern. Its origin is unconfirmed.</a:t>
            </a:r>
            <a:endParaRPr b="0" lang="en-US" sz="1200" spc="-1" strike="noStrike">
              <a:solidFill>
                <a:srgbClr val="000000"/>
              </a:solidFill>
              <a:latin typeface="Arial"/>
            </a:endParaRPr>
          </a:p>
        </p:txBody>
      </p:sp>
      <p:sp>
        <p:nvSpPr>
          <p:cNvPr id="116" name="Rectangle 22"/>
          <p:cNvSpPr/>
          <p:nvPr/>
        </p:nvSpPr>
        <p:spPr>
          <a:xfrm>
            <a:off x="8942760" y="1920240"/>
            <a:ext cx="2651400" cy="30171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Rectangle 23"/>
          <p:cNvSpPr/>
          <p:nvPr/>
        </p:nvSpPr>
        <p:spPr>
          <a:xfrm>
            <a:off x="8942760" y="1920240"/>
            <a:ext cx="72720" cy="301716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TextBox 24"/>
          <p:cNvSpPr/>
          <p:nvPr/>
        </p:nvSpPr>
        <p:spPr>
          <a:xfrm>
            <a:off x="9217080" y="2030040"/>
            <a:ext cx="2239920" cy="549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600" spc="-1" strike="noStrike">
                <a:solidFill>
                  <a:srgbClr val="c8402f"/>
                </a:solidFill>
                <a:latin typeface="Calibri"/>
              </a:rPr>
              <a:t>5.0%</a:t>
            </a:r>
            <a:endParaRPr b="0" lang="en-US" sz="3600" spc="-1" strike="noStrike">
              <a:solidFill>
                <a:srgbClr val="000000"/>
              </a:solidFill>
              <a:latin typeface="Arial"/>
            </a:endParaRPr>
          </a:p>
        </p:txBody>
      </p:sp>
      <p:sp>
        <p:nvSpPr>
          <p:cNvPr id="119" name="TextBox 25"/>
          <p:cNvSpPr/>
          <p:nvPr/>
        </p:nvSpPr>
        <p:spPr>
          <a:xfrm>
            <a:off x="9217080" y="2715840"/>
            <a:ext cx="223992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273 mileages exactly 100</a:t>
            </a:r>
            <a:endParaRPr b="0" lang="en-US" sz="1400" spc="-1" strike="noStrike">
              <a:solidFill>
                <a:srgbClr val="000000"/>
              </a:solidFill>
              <a:latin typeface="Arial"/>
            </a:endParaRPr>
          </a:p>
        </p:txBody>
      </p:sp>
      <p:sp>
        <p:nvSpPr>
          <p:cNvPr id="120" name="TextBox 26"/>
          <p:cNvSpPr/>
          <p:nvPr/>
        </p:nvSpPr>
        <p:spPr>
          <a:xfrm>
            <a:off x="9217080" y="3218760"/>
            <a:ext cx="223992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Verify the source. Median vehicle age is one year.</a:t>
            </a:r>
            <a:endParaRPr b="0" lang="en-US" sz="1200" spc="-1" strike="noStrike">
              <a:solidFill>
                <a:srgbClr val="000000"/>
              </a:solidFill>
              <a:latin typeface="Arial"/>
            </a:endParaRPr>
          </a:p>
        </p:txBody>
      </p:sp>
      <p:sp>
        <p:nvSpPr>
          <p:cNvPr id="121" name="Rounded Rectangle 27"/>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the data supports analysis, with explicit missing-ness and source-quality limits.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12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How do age and mileage relate to asking price?</a:t>
            </a:r>
            <a:endParaRPr b="0" lang="en-US" sz="2900" spc="-1" strike="noStrike">
              <a:solidFill>
                <a:srgbClr val="000000"/>
              </a:solidFill>
              <a:latin typeface="Arial"/>
            </a:endParaRPr>
          </a:p>
        </p:txBody>
      </p:sp>
      <p:sp>
        <p:nvSpPr>
          <p:cNvPr id="12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Older and higher-mileage listings generally have lower asking prices.</a:t>
            </a:r>
            <a:endParaRPr b="0" lang="en-US" sz="1600" spc="-1" strike="noStrike">
              <a:solidFill>
                <a:srgbClr val="000000"/>
              </a:solidFill>
              <a:latin typeface="Arial"/>
            </a:endParaRPr>
          </a:p>
        </p:txBody>
      </p:sp>
      <p:sp>
        <p:nvSpPr>
          <p:cNvPr id="12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2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dataset_clean.csv; exploratory/tables/age_profile.csv; correlations.csv. All 5,500 listings.</a:t>
            </a:r>
            <a:endParaRPr b="0" lang="en-US" sz="1100" spc="-1" strike="noStrike">
              <a:solidFill>
                <a:srgbClr val="000000"/>
              </a:solidFill>
              <a:latin typeface="Arial"/>
            </a:endParaRPr>
          </a:p>
        </p:txBody>
      </p:sp>
      <p:sp>
        <p:nvSpPr>
          <p:cNvPr id="12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03</a:t>
            </a:r>
            <a:endParaRPr b="0" lang="en-US" sz="1100" spc="-1" strike="noStrike">
              <a:solidFill>
                <a:srgbClr val="000000"/>
              </a:solidFill>
              <a:latin typeface="Arial"/>
            </a:endParaRPr>
          </a:p>
        </p:txBody>
      </p:sp>
      <p:graphicFrame>
        <p:nvGraphicFramePr>
          <p:cNvPr id="128" name="Chart 7"/>
          <p:cNvGraphicFramePr/>
          <p:nvPr/>
        </p:nvGraphicFramePr>
        <p:xfrm>
          <a:off x="457200" y="1737360"/>
          <a:ext cx="5760360" cy="3291480"/>
        </p:xfrm>
        <a:graphic>
          <a:graphicData uri="http://schemas.openxmlformats.org/drawingml/2006/chart">
            <c:chart xmlns:c="http://schemas.openxmlformats.org/drawingml/2006/chart" xmlns:r="http://schemas.openxmlformats.org/officeDocument/2006/relationships" r:id="rId1"/>
          </a:graphicData>
        </a:graphic>
      </p:graphicFrame>
      <p:pic>
        <p:nvPicPr>
          <p:cNvPr id="129" name="Picture 8" descr="hexbin.png"/>
          <p:cNvPicPr/>
          <p:nvPr/>
        </p:nvPicPr>
        <p:blipFill>
          <a:blip r:embed="rId2"/>
          <a:stretch/>
        </p:blipFill>
        <p:spPr>
          <a:xfrm>
            <a:off x="6355080" y="1737360"/>
            <a:ext cx="5303160" cy="3079080"/>
          </a:xfrm>
          <a:prstGeom prst="rect">
            <a:avLst/>
          </a:prstGeom>
          <a:ln w="0">
            <a:noFill/>
          </a:ln>
        </p:spPr>
      </p:pic>
      <p:sp>
        <p:nvSpPr>
          <p:cNvPr id="130" name="TextBox 9"/>
          <p:cNvSpPr/>
          <p:nvPr/>
        </p:nvSpPr>
        <p:spPr>
          <a:xfrm>
            <a:off x="548640" y="5074920"/>
            <a:ext cx="1106388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Lines at the 25th and 75th percentiles bound the middle 50% of listings at each age (not a confidence interval). Age and mileage correlate at 0.78: their information overlaps.</a:t>
            </a:r>
            <a:endParaRPr b="0" lang="en-US" sz="1200" spc="-1" strike="noStrike">
              <a:solidFill>
                <a:srgbClr val="000000"/>
              </a:solidFill>
              <a:latin typeface="Arial"/>
            </a:endParaRPr>
          </a:p>
        </p:txBody>
      </p:sp>
      <p:sp>
        <p:nvSpPr>
          <p:cNvPr id="131" name="Rounded Rectangle 10"/>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compare age and mileage together. Neither plot alone establishes depreciation.</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13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Which relationships persist beyond the $500 group?</a:t>
            </a:r>
            <a:endParaRPr b="0" lang="en-US" sz="2900" spc="-1" strike="noStrike">
              <a:solidFill>
                <a:srgbClr val="000000"/>
              </a:solidFill>
              <a:latin typeface="Arial"/>
            </a:endParaRPr>
          </a:p>
        </p:txBody>
      </p:sp>
      <p:sp>
        <p:nvSpPr>
          <p:cNvPr id="134" name="TextBox 3"/>
          <p:cNvSpPr/>
          <p:nvPr/>
        </p:nvSpPr>
        <p:spPr>
          <a:xfrm>
            <a:off x="548640" y="1024200"/>
            <a:ext cx="11063880" cy="48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Age, mileage and owners keep strong associations. Engine size and horsepower have weak overall associations.</a:t>
            </a:r>
            <a:endParaRPr b="0" lang="en-US" sz="1600" spc="-1" strike="noStrike">
              <a:solidFill>
                <a:srgbClr val="000000"/>
              </a:solidFill>
              <a:latin typeface="Arial"/>
            </a:endParaRPr>
          </a:p>
        </p:txBody>
      </p:sp>
      <p:sp>
        <p:nvSpPr>
          <p:cNvPr id="13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3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exploratory/tables/correlations.csv. Spearman correlations, available records per variable.</a:t>
            </a:r>
            <a:endParaRPr b="0" lang="en-US" sz="1100" spc="-1" strike="noStrike">
              <a:solidFill>
                <a:srgbClr val="000000"/>
              </a:solidFill>
              <a:latin typeface="Arial"/>
            </a:endParaRPr>
          </a:p>
        </p:txBody>
      </p:sp>
      <p:sp>
        <p:nvSpPr>
          <p:cNvPr id="13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04</a:t>
            </a:r>
            <a:endParaRPr b="0" lang="en-US" sz="1100" spc="-1" strike="noStrike">
              <a:solidFill>
                <a:srgbClr val="000000"/>
              </a:solidFill>
              <a:latin typeface="Arial"/>
            </a:endParaRPr>
          </a:p>
        </p:txBody>
      </p:sp>
      <p:graphicFrame>
        <p:nvGraphicFramePr>
          <p:cNvPr id="138" name="Chart 7"/>
          <p:cNvGraphicFramePr/>
          <p:nvPr/>
        </p:nvGraphicFramePr>
        <p:xfrm>
          <a:off x="457200" y="1737360"/>
          <a:ext cx="7314840" cy="3931560"/>
        </p:xfrm>
        <a:graphic>
          <a:graphicData uri="http://schemas.openxmlformats.org/drawingml/2006/chart">
            <c:chart xmlns:c="http://schemas.openxmlformats.org/drawingml/2006/chart" xmlns:r="http://schemas.openxmlformats.org/officeDocument/2006/relationships" r:id="rId1"/>
          </a:graphicData>
        </a:graphic>
      </p:graphicFrame>
      <p:sp>
        <p:nvSpPr>
          <p:cNvPr id="139" name="Rectangle 8"/>
          <p:cNvSpPr/>
          <p:nvPr/>
        </p:nvSpPr>
        <p:spPr>
          <a:xfrm>
            <a:off x="8046720" y="1828800"/>
            <a:ext cx="3593160" cy="1737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0" name="Rectangle 9"/>
          <p:cNvSpPr/>
          <p:nvPr/>
        </p:nvSpPr>
        <p:spPr>
          <a:xfrm>
            <a:off x="8046720" y="1828800"/>
            <a:ext cx="72720" cy="1737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1" name="TextBox 10"/>
          <p:cNvSpPr/>
          <p:nvPr/>
        </p:nvSpPr>
        <p:spPr>
          <a:xfrm>
            <a:off x="8321040" y="1965960"/>
            <a:ext cx="313596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13293d"/>
                </a:solidFill>
                <a:latin typeface="Calibri"/>
              </a:rPr>
              <a:t>Strong and stable</a:t>
            </a:r>
            <a:endParaRPr b="0" lang="en-US" sz="1500" spc="-1" strike="noStrike">
              <a:solidFill>
                <a:srgbClr val="000000"/>
              </a:solidFill>
              <a:latin typeface="Arial"/>
            </a:endParaRPr>
          </a:p>
        </p:txBody>
      </p:sp>
      <p:sp>
        <p:nvSpPr>
          <p:cNvPr id="142" name="TextBox 11"/>
          <p:cNvSpPr/>
          <p:nvPr/>
        </p:nvSpPr>
        <p:spPr>
          <a:xfrm>
            <a:off x="8321040" y="2312640"/>
            <a:ext cx="313596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2b3540"/>
                </a:solidFill>
                <a:latin typeface="Calibri"/>
              </a:rPr>
              <a:t>Age, mileage and owners stay strongly negative above $500.</a:t>
            </a:r>
            <a:endParaRPr b="0" lang="en-US" sz="1400" spc="-1" strike="noStrike">
              <a:solidFill>
                <a:srgbClr val="000000"/>
              </a:solidFill>
              <a:latin typeface="Arial"/>
            </a:endParaRPr>
          </a:p>
        </p:txBody>
      </p:sp>
      <p:sp>
        <p:nvSpPr>
          <p:cNvPr id="143" name="Rectangle 12"/>
          <p:cNvSpPr/>
          <p:nvPr/>
        </p:nvSpPr>
        <p:spPr>
          <a:xfrm>
            <a:off x="8046720" y="3749040"/>
            <a:ext cx="3593160" cy="1737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4" name="Rectangle 13"/>
          <p:cNvSpPr/>
          <p:nvPr/>
        </p:nvSpPr>
        <p:spPr>
          <a:xfrm>
            <a:off x="8046720" y="3749040"/>
            <a:ext cx="72720" cy="173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5" name="TextBox 14"/>
          <p:cNvSpPr/>
          <p:nvPr/>
        </p:nvSpPr>
        <p:spPr>
          <a:xfrm>
            <a:off x="8321040" y="3886200"/>
            <a:ext cx="313596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13293d"/>
                </a:solidFill>
                <a:latin typeface="Calibri"/>
              </a:rPr>
              <a:t>Weak overall</a:t>
            </a:r>
            <a:endParaRPr b="0" lang="en-US" sz="1500" spc="-1" strike="noStrike">
              <a:solidFill>
                <a:srgbClr val="000000"/>
              </a:solidFill>
              <a:latin typeface="Arial"/>
            </a:endParaRPr>
          </a:p>
        </p:txBody>
      </p:sp>
      <p:sp>
        <p:nvSpPr>
          <p:cNvPr id="146" name="TextBox 15"/>
          <p:cNvSpPr/>
          <p:nvPr/>
        </p:nvSpPr>
        <p:spPr>
          <a:xfrm>
            <a:off x="8321040" y="4232880"/>
            <a:ext cx="3135960" cy="64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2b3540"/>
                </a:solidFill>
                <a:latin typeface="Calibri"/>
              </a:rPr>
              <a:t>Engine size and horsepower are near zero. Owners overlap with the vehicle mix.</a:t>
            </a:r>
            <a:endParaRPr b="0" lang="en-US" sz="1400" spc="-1" strike="noStrike">
              <a:solidFill>
                <a:srgbClr val="000000"/>
              </a:solidFill>
              <a:latin typeface="Arial"/>
            </a:endParaRPr>
          </a:p>
        </p:txBody>
      </p:sp>
      <p:sp>
        <p:nvSpPr>
          <p:cNvPr id="147" name="Rounded Rectangle 16"/>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priorities age and mileage comparisons. Check model and segment effects before dismissing other attributes.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149"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Can we isolate accident, service and body differences?</a:t>
            </a:r>
            <a:endParaRPr b="0" lang="en-US" sz="2900" spc="-1" strike="noStrike">
              <a:solidFill>
                <a:srgbClr val="000000"/>
              </a:solidFill>
              <a:latin typeface="Arial"/>
            </a:endParaRPr>
          </a:p>
        </p:txBody>
      </p:sp>
      <p:sp>
        <p:nvSpPr>
          <p:cNvPr id="150"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Comparable groups give narrower evidence. Coverage and model mix limit general claims.</a:t>
            </a:r>
            <a:endParaRPr b="0" lang="en-US" sz="1600" spc="-1" strike="noStrike">
              <a:solidFill>
                <a:srgbClr val="000000"/>
              </a:solidFill>
              <a:latin typeface="Arial"/>
            </a:endParaRPr>
          </a:p>
        </p:txBody>
      </p:sp>
      <p:sp>
        <p:nvSpPr>
          <p:cNvPr id="151"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52"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endParaRPr b="0" lang="en-US" sz="1800" spc="-1" strike="noStrike">
              <a:solidFill>
                <a:srgbClr val="000000"/>
              </a:solidFill>
              <a:latin typeface="Arial"/>
            </a:endParaRPr>
          </a:p>
        </p:txBody>
      </p:sp>
      <p:sp>
        <p:nvSpPr>
          <p:cNvPr id="153"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05</a:t>
            </a:r>
            <a:endParaRPr b="0" lang="en-US" sz="1100" spc="-1" strike="noStrike">
              <a:solidFill>
                <a:srgbClr val="000000"/>
              </a:solidFill>
              <a:latin typeface="Arial"/>
            </a:endParaRPr>
          </a:p>
        </p:txBody>
      </p:sp>
      <p:sp>
        <p:nvSpPr>
          <p:cNvPr id="154" name="Rectangle 7"/>
          <p:cNvSpPr/>
          <p:nvPr/>
        </p:nvSpPr>
        <p:spPr>
          <a:xfrm>
            <a:off x="548640" y="1828800"/>
            <a:ext cx="3593160" cy="33829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 name="Rectangle 8"/>
          <p:cNvSpPr/>
          <p:nvPr/>
        </p:nvSpPr>
        <p:spPr>
          <a:xfrm>
            <a:off x="548640" y="1828800"/>
            <a:ext cx="3593160" cy="7272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56" name="TextBox 9"/>
          <p:cNvSpPr/>
          <p:nvPr/>
        </p:nvSpPr>
        <p:spPr>
          <a:xfrm>
            <a:off x="822960" y="2011680"/>
            <a:ext cx="310860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700" spc="-1" strike="noStrike">
                <a:solidFill>
                  <a:srgbClr val="13293d"/>
                </a:solidFill>
                <a:latin typeface="Calibri"/>
              </a:rPr>
              <a:t>Accident: Yes vs No</a:t>
            </a:r>
            <a:endParaRPr b="0" lang="en-US" sz="1700" spc="-1" strike="noStrike">
              <a:solidFill>
                <a:srgbClr val="000000"/>
              </a:solidFill>
              <a:latin typeface="Arial"/>
            </a:endParaRPr>
          </a:p>
        </p:txBody>
      </p:sp>
      <p:sp>
        <p:nvSpPr>
          <p:cNvPr id="157" name="TextBox 10"/>
          <p:cNvSpPr/>
          <p:nvPr/>
        </p:nvSpPr>
        <p:spPr>
          <a:xfrm>
            <a:off x="822960" y="2514600"/>
            <a:ext cx="3108600" cy="5796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007c85"/>
                </a:solidFill>
                <a:latin typeface="Calibri"/>
              </a:rPr>
              <a:t>-$2,315</a:t>
            </a:r>
            <a:endParaRPr b="0" lang="en-US" sz="3800" spc="-1" strike="noStrike">
              <a:solidFill>
                <a:srgbClr val="000000"/>
              </a:solidFill>
              <a:latin typeface="Arial"/>
            </a:endParaRPr>
          </a:p>
        </p:txBody>
      </p:sp>
      <p:sp>
        <p:nvSpPr>
          <p:cNvPr id="158" name="TextBox 11"/>
          <p:cNvSpPr/>
          <p:nvPr/>
        </p:nvSpPr>
        <p:spPr>
          <a:xfrm>
            <a:off x="822960" y="3291840"/>
            <a:ext cx="31086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Interval: -$2,534 to -$2,064</a:t>
            </a:r>
            <a:endParaRPr b="0" lang="en-US" sz="1300" spc="-1" strike="noStrike">
              <a:solidFill>
                <a:srgbClr val="000000"/>
              </a:solidFill>
              <a:latin typeface="Arial"/>
            </a:endParaRPr>
          </a:p>
        </p:txBody>
      </p:sp>
      <p:sp>
        <p:nvSpPr>
          <p:cNvPr id="159" name="TextBox 12"/>
          <p:cNvSpPr/>
          <p:nvPr/>
        </p:nvSpPr>
        <p:spPr>
          <a:xfrm>
            <a:off x="822960" y="3886200"/>
            <a:ext cx="31086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00" spc="-1" strike="noStrike">
                <a:solidFill>
                  <a:srgbClr val="5b6876"/>
                </a:solidFill>
                <a:latin typeface="Calibri"/>
              </a:rPr>
              <a:t>Coverage 16.4% / 16.2%</a:t>
            </a:r>
            <a:endParaRPr b="0" lang="en-US" sz="1300" spc="-1" strike="noStrike">
              <a:solidFill>
                <a:srgbClr val="000000"/>
              </a:solidFill>
              <a:latin typeface="Arial"/>
            </a:endParaRPr>
          </a:p>
        </p:txBody>
      </p:sp>
      <p:sp>
        <p:nvSpPr>
          <p:cNvPr id="160" name="Rounded Rectangle 13"/>
          <p:cNvSpPr/>
          <p:nvPr/>
        </p:nvSpPr>
        <p:spPr>
          <a:xfrm>
            <a:off x="822960" y="4434840"/>
            <a:ext cx="3044520" cy="548280"/>
          </a:xfrm>
          <a:prstGeom prst="roundRect">
            <a:avLst>
              <a:gd name="adj" fmla="val 16667"/>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pc="-1" strike="noStrike">
                <a:solidFill>
                  <a:srgbClr val="ffffff"/>
                </a:solidFill>
                <a:latin typeface="Calibri"/>
              </a:rPr>
              <a:t>Directional within narrow overlap</a:t>
            </a:r>
            <a:endParaRPr b="0" lang="en-US" sz="1300" spc="-1" strike="noStrike">
              <a:solidFill>
                <a:srgbClr val="ffffff"/>
              </a:solidFill>
              <a:latin typeface="Arial"/>
            </a:endParaRPr>
          </a:p>
        </p:txBody>
      </p:sp>
      <p:sp>
        <p:nvSpPr>
          <p:cNvPr id="161" name="Rectangle 14"/>
          <p:cNvSpPr/>
          <p:nvPr/>
        </p:nvSpPr>
        <p:spPr>
          <a:xfrm>
            <a:off x="4297680" y="1828800"/>
            <a:ext cx="3593160" cy="33829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15"/>
          <p:cNvSpPr/>
          <p:nvPr/>
        </p:nvSpPr>
        <p:spPr>
          <a:xfrm>
            <a:off x="4297680" y="1828800"/>
            <a:ext cx="3593160" cy="7272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63" name="TextBox 16"/>
          <p:cNvSpPr/>
          <p:nvPr/>
        </p:nvSpPr>
        <p:spPr>
          <a:xfrm>
            <a:off x="4572000" y="2011680"/>
            <a:ext cx="310860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700" spc="-1" strike="noStrike">
                <a:solidFill>
                  <a:srgbClr val="13293d"/>
                </a:solidFill>
                <a:latin typeface="Calibri"/>
              </a:rPr>
              <a:t>Full service vs none</a:t>
            </a:r>
            <a:endParaRPr b="0" lang="en-US" sz="1700" spc="-1" strike="noStrike">
              <a:solidFill>
                <a:srgbClr val="000000"/>
              </a:solidFill>
              <a:latin typeface="Arial"/>
            </a:endParaRPr>
          </a:p>
        </p:txBody>
      </p:sp>
      <p:sp>
        <p:nvSpPr>
          <p:cNvPr id="164" name="TextBox 17"/>
          <p:cNvSpPr/>
          <p:nvPr/>
        </p:nvSpPr>
        <p:spPr>
          <a:xfrm>
            <a:off x="4572000" y="2514600"/>
            <a:ext cx="3108600" cy="5796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c8402f"/>
                </a:solidFill>
                <a:latin typeface="Calibri"/>
              </a:rPr>
              <a:t>Withhold</a:t>
            </a:r>
            <a:endParaRPr b="0" lang="en-US" sz="3800" spc="-1" strike="noStrike">
              <a:solidFill>
                <a:srgbClr val="000000"/>
              </a:solidFill>
              <a:latin typeface="Arial"/>
            </a:endParaRPr>
          </a:p>
        </p:txBody>
      </p:sp>
      <p:sp>
        <p:nvSpPr>
          <p:cNvPr id="165" name="TextBox 18"/>
          <p:cNvSpPr/>
          <p:nvPr/>
        </p:nvSpPr>
        <p:spPr>
          <a:xfrm>
            <a:off x="4572000" y="3291840"/>
            <a:ext cx="3108600" cy="39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Retained cars average about 1.6-1.7 years</a:t>
            </a:r>
            <a:endParaRPr b="0" lang="en-US" sz="1300" spc="-1" strike="noStrike">
              <a:solidFill>
                <a:srgbClr val="000000"/>
              </a:solidFill>
              <a:latin typeface="Arial"/>
            </a:endParaRPr>
          </a:p>
        </p:txBody>
      </p:sp>
      <p:sp>
        <p:nvSpPr>
          <p:cNvPr id="166" name="TextBox 19"/>
          <p:cNvSpPr/>
          <p:nvPr/>
        </p:nvSpPr>
        <p:spPr>
          <a:xfrm>
            <a:off x="4572000" y="3886200"/>
            <a:ext cx="31086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00" spc="-1" strike="noStrike">
                <a:solidFill>
                  <a:srgbClr val="5b6876"/>
                </a:solidFill>
                <a:latin typeface="Calibri"/>
              </a:rPr>
              <a:t>Coverage 6.9% / 11.2%</a:t>
            </a:r>
            <a:endParaRPr b="0" lang="en-US" sz="1300" spc="-1" strike="noStrike">
              <a:solidFill>
                <a:srgbClr val="000000"/>
              </a:solidFill>
              <a:latin typeface="Arial"/>
            </a:endParaRPr>
          </a:p>
        </p:txBody>
      </p:sp>
      <p:sp>
        <p:nvSpPr>
          <p:cNvPr id="167" name="Rounded Rectangle 20"/>
          <p:cNvSpPr/>
          <p:nvPr/>
        </p:nvSpPr>
        <p:spPr>
          <a:xfrm>
            <a:off x="4572000" y="4434840"/>
            <a:ext cx="3044520" cy="548280"/>
          </a:xfrm>
          <a:prstGeom prst="roundRect">
            <a:avLst>
              <a:gd name="adj" fmla="val 16667"/>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pc="-1" strike="noStrike">
                <a:solidFill>
                  <a:srgbClr val="ffffff"/>
                </a:solidFill>
                <a:latin typeface="Calibri"/>
              </a:rPr>
              <a:t>No fleet-wide premium claim</a:t>
            </a:r>
            <a:endParaRPr b="0" lang="en-US" sz="1300" spc="-1" strike="noStrike">
              <a:solidFill>
                <a:srgbClr val="ffffff"/>
              </a:solidFill>
              <a:latin typeface="Arial"/>
            </a:endParaRPr>
          </a:p>
        </p:txBody>
      </p:sp>
      <p:sp>
        <p:nvSpPr>
          <p:cNvPr id="168" name="Rectangle 21"/>
          <p:cNvSpPr/>
          <p:nvPr/>
        </p:nvSpPr>
        <p:spPr>
          <a:xfrm>
            <a:off x="8046720" y="1828800"/>
            <a:ext cx="3593160" cy="33829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9" name="Rectangle 22"/>
          <p:cNvSpPr/>
          <p:nvPr/>
        </p:nvSpPr>
        <p:spPr>
          <a:xfrm>
            <a:off x="8046720" y="1828800"/>
            <a:ext cx="3593160" cy="7272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0" name="TextBox 23"/>
          <p:cNvSpPr/>
          <p:nvPr/>
        </p:nvSpPr>
        <p:spPr>
          <a:xfrm>
            <a:off x="8321040" y="2011680"/>
            <a:ext cx="310860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700" spc="-1" strike="noStrike">
                <a:solidFill>
                  <a:srgbClr val="13293d"/>
                </a:solidFill>
                <a:latin typeface="Calibri"/>
              </a:rPr>
              <a:t>SUV vs sedan</a:t>
            </a:r>
            <a:endParaRPr b="0" lang="en-US" sz="1700" spc="-1" strike="noStrike">
              <a:solidFill>
                <a:srgbClr val="000000"/>
              </a:solidFill>
              <a:latin typeface="Arial"/>
            </a:endParaRPr>
          </a:p>
        </p:txBody>
      </p:sp>
      <p:sp>
        <p:nvSpPr>
          <p:cNvPr id="171" name="TextBox 24"/>
          <p:cNvSpPr/>
          <p:nvPr/>
        </p:nvSpPr>
        <p:spPr>
          <a:xfrm>
            <a:off x="8321040" y="2514600"/>
            <a:ext cx="3108600" cy="5796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800" spc="-1" strike="noStrike">
                <a:solidFill>
                  <a:srgbClr val="13293d"/>
                </a:solidFill>
                <a:latin typeface="Calibri"/>
              </a:rPr>
              <a:t>+$2,561</a:t>
            </a:r>
            <a:endParaRPr b="0" lang="en-US" sz="3800" spc="-1" strike="noStrike">
              <a:solidFill>
                <a:srgbClr val="000000"/>
              </a:solidFill>
              <a:latin typeface="Arial"/>
            </a:endParaRPr>
          </a:p>
        </p:txBody>
      </p:sp>
      <p:sp>
        <p:nvSpPr>
          <p:cNvPr id="172" name="TextBox 25"/>
          <p:cNvSpPr/>
          <p:nvPr/>
        </p:nvSpPr>
        <p:spPr>
          <a:xfrm>
            <a:off x="8321040" y="3291840"/>
            <a:ext cx="31086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Interval: +$2,165 to +$3,003</a:t>
            </a:r>
            <a:endParaRPr b="0" lang="en-US" sz="1300" spc="-1" strike="noStrike">
              <a:solidFill>
                <a:srgbClr val="000000"/>
              </a:solidFill>
              <a:latin typeface="Arial"/>
            </a:endParaRPr>
          </a:p>
        </p:txBody>
      </p:sp>
      <p:sp>
        <p:nvSpPr>
          <p:cNvPr id="173" name="TextBox 26"/>
          <p:cNvSpPr/>
          <p:nvPr/>
        </p:nvSpPr>
        <p:spPr>
          <a:xfrm>
            <a:off x="8321040" y="3886200"/>
            <a:ext cx="310860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00" spc="-1" strike="noStrike">
                <a:solidFill>
                  <a:srgbClr val="5b6876"/>
                </a:solidFill>
                <a:latin typeface="Calibri"/>
              </a:rPr>
              <a:t>Coverage 95.5% / 95.8%</a:t>
            </a:r>
            <a:endParaRPr b="0" lang="en-US" sz="1300" spc="-1" strike="noStrike">
              <a:solidFill>
                <a:srgbClr val="000000"/>
              </a:solidFill>
              <a:latin typeface="Arial"/>
            </a:endParaRPr>
          </a:p>
        </p:txBody>
      </p:sp>
      <p:sp>
        <p:nvSpPr>
          <p:cNvPr id="174" name="Rounded Rectangle 27"/>
          <p:cNvSpPr/>
          <p:nvPr/>
        </p:nvSpPr>
        <p:spPr>
          <a:xfrm>
            <a:off x="8321040" y="4434840"/>
            <a:ext cx="3044520" cy="54828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300" spc="-1" strike="noStrike">
                <a:solidFill>
                  <a:srgbClr val="ffffff"/>
                </a:solidFill>
                <a:latin typeface="Calibri"/>
              </a:rPr>
              <a:t>Descriptive. Includes model mix</a:t>
            </a:r>
            <a:endParaRPr b="0" lang="en-US" sz="1300" spc="-1" strike="noStrike">
              <a:solidFill>
                <a:srgbClr val="ffffff"/>
              </a:solidFill>
              <a:latin typeface="Arial"/>
            </a:endParaRPr>
          </a:p>
        </p:txBody>
      </p:sp>
      <p:sp>
        <p:nvSpPr>
          <p:cNvPr id="175" name="TextBox 28"/>
          <p:cNvSpPr/>
          <p:nvPr/>
        </p:nvSpPr>
        <p:spPr>
          <a:xfrm>
            <a:off x="548640" y="5285160"/>
            <a:ext cx="110638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Accident and service matching uses model, age and mileage. SUV vs sedan uses fuel, age and mileage. Intervals cover resampling only.</a:t>
            </a:r>
            <a:endParaRPr b="0" lang="en-US" sz="1200" spc="-1" strike="noStrike">
              <a:solidFill>
                <a:srgbClr val="000000"/>
              </a:solidFill>
              <a:latin typeface="Arial"/>
            </a:endParaRPr>
          </a:p>
        </p:txBody>
      </p:sp>
      <p:sp>
        <p:nvSpPr>
          <p:cNvPr id="176" name="Rounded Rectangle 29"/>
          <p:cNvSpPr/>
          <p:nvPr/>
        </p:nvSpPr>
        <p:spPr>
          <a:xfrm>
            <a:off x="548640" y="580644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verify condition, but avoid a universal accident discount or service premium from these comparisons.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178"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Does vehicle detail improve prediction?</a:t>
            </a:r>
            <a:endParaRPr b="0" lang="en-US" sz="2900" spc="-1" strike="noStrike">
              <a:solidFill>
                <a:srgbClr val="000000"/>
              </a:solidFill>
              <a:latin typeface="Arial"/>
            </a:endParaRPr>
          </a:p>
        </p:txBody>
      </p:sp>
      <p:sp>
        <p:nvSpPr>
          <p:cNvPr id="179"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Vehicle model adds substantial information beyond age and mileage.</a:t>
            </a:r>
            <a:endParaRPr b="0" lang="en-US" sz="1600" spc="-1" strike="noStrike">
              <a:solidFill>
                <a:srgbClr val="000000"/>
              </a:solidFill>
              <a:latin typeface="Arial"/>
            </a:endParaRPr>
          </a:p>
        </p:txBody>
      </p:sp>
      <p:sp>
        <p:nvSpPr>
          <p:cNvPr id="180"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81"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exploratory/tables/fixed_staged_models.csv. Same five development folds, 4,400 rows.</a:t>
            </a:r>
            <a:endParaRPr b="0" lang="en-US" sz="1100" spc="-1" strike="noStrike">
              <a:solidFill>
                <a:srgbClr val="000000"/>
              </a:solidFill>
              <a:latin typeface="Arial"/>
            </a:endParaRPr>
          </a:p>
        </p:txBody>
      </p:sp>
      <p:sp>
        <p:nvSpPr>
          <p:cNvPr id="182"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06</a:t>
            </a:r>
            <a:endParaRPr b="0" lang="en-US" sz="1100" spc="-1" strike="noStrike">
              <a:solidFill>
                <a:srgbClr val="000000"/>
              </a:solidFill>
              <a:latin typeface="Arial"/>
            </a:endParaRPr>
          </a:p>
        </p:txBody>
      </p:sp>
      <p:graphicFrame>
        <p:nvGraphicFramePr>
          <p:cNvPr id="183" name="Chart 7"/>
          <p:cNvGraphicFramePr/>
          <p:nvPr/>
        </p:nvGraphicFramePr>
        <p:xfrm>
          <a:off x="457200" y="1737360"/>
          <a:ext cx="768060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184" name="Rectangle 8"/>
          <p:cNvSpPr/>
          <p:nvPr/>
        </p:nvSpPr>
        <p:spPr>
          <a:xfrm>
            <a:off x="8412480" y="1828800"/>
            <a:ext cx="3227400" cy="164556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5" name="Rectangle 9"/>
          <p:cNvSpPr/>
          <p:nvPr/>
        </p:nvSpPr>
        <p:spPr>
          <a:xfrm>
            <a:off x="8412480" y="1828800"/>
            <a:ext cx="72720" cy="164556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 name="TextBox 10"/>
          <p:cNvSpPr/>
          <p:nvPr/>
        </p:nvSpPr>
        <p:spPr>
          <a:xfrm>
            <a:off x="8686800" y="1965960"/>
            <a:ext cx="277020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13293d"/>
                </a:solidFill>
                <a:latin typeface="Calibri"/>
              </a:rPr>
              <a:t>How to read</a:t>
            </a:r>
            <a:endParaRPr b="0" lang="en-US" sz="1500" spc="-1" strike="noStrike">
              <a:solidFill>
                <a:srgbClr val="000000"/>
              </a:solidFill>
              <a:latin typeface="Arial"/>
            </a:endParaRPr>
          </a:p>
        </p:txBody>
      </p:sp>
      <p:sp>
        <p:nvSpPr>
          <p:cNvPr id="187" name="TextBox 11"/>
          <p:cNvSpPr/>
          <p:nvPr/>
        </p:nvSpPr>
        <p:spPr>
          <a:xfrm>
            <a:off x="8686800" y="2312640"/>
            <a:ext cx="277020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2b3540"/>
                </a:solidFill>
                <a:latin typeface="Calibri"/>
              </a:rPr>
              <a:t>Average miss in dollars. Lower is better.</a:t>
            </a:r>
            <a:endParaRPr b="0" lang="en-US" sz="1400" spc="-1" strike="noStrike">
              <a:solidFill>
                <a:srgbClr val="000000"/>
              </a:solidFill>
              <a:latin typeface="Arial"/>
            </a:endParaRPr>
          </a:p>
        </p:txBody>
      </p:sp>
      <p:sp>
        <p:nvSpPr>
          <p:cNvPr id="188" name="Rectangle 12"/>
          <p:cNvSpPr/>
          <p:nvPr/>
        </p:nvSpPr>
        <p:spPr>
          <a:xfrm>
            <a:off x="8412480" y="3657600"/>
            <a:ext cx="3227400" cy="182844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9" name="Rectangle 13"/>
          <p:cNvSpPr/>
          <p:nvPr/>
        </p:nvSpPr>
        <p:spPr>
          <a:xfrm>
            <a:off x="8412480" y="3657600"/>
            <a:ext cx="72720" cy="1828440"/>
          </a:xfrm>
          <a:prstGeom prst="rect">
            <a:avLst/>
          </a:prstGeom>
          <a:solidFill>
            <a:srgbClr val="c8402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14"/>
          <p:cNvSpPr/>
          <p:nvPr/>
        </p:nvSpPr>
        <p:spPr>
          <a:xfrm>
            <a:off x="8686800" y="3794760"/>
            <a:ext cx="277020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500" spc="-1" strike="noStrike">
                <a:solidFill>
                  <a:srgbClr val="13293d"/>
                </a:solidFill>
                <a:latin typeface="Calibri"/>
              </a:rPr>
              <a:t>Model matters</a:t>
            </a:r>
            <a:endParaRPr b="0" lang="en-US" sz="1500" spc="-1" strike="noStrike">
              <a:solidFill>
                <a:srgbClr val="000000"/>
              </a:solidFill>
              <a:latin typeface="Arial"/>
            </a:endParaRPr>
          </a:p>
        </p:txBody>
      </p:sp>
      <p:sp>
        <p:nvSpPr>
          <p:cNvPr id="191" name="TextBox 15"/>
          <p:cNvSpPr/>
          <p:nvPr/>
        </p:nvSpPr>
        <p:spPr>
          <a:xfrm>
            <a:off x="8686800" y="4141440"/>
            <a:ext cx="2770200" cy="64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2b3540"/>
                </a:solidFill>
                <a:latin typeface="Calibri"/>
              </a:rPr>
              <a:t>Without model: MAE about $4,701. More attributes do not always help.</a:t>
            </a:r>
            <a:endParaRPr b="0" lang="en-US" sz="1400" spc="-1" strike="noStrike">
              <a:solidFill>
                <a:srgbClr val="000000"/>
              </a:solidFill>
              <a:latin typeface="Arial"/>
            </a:endParaRPr>
          </a:p>
        </p:txBody>
      </p:sp>
      <p:sp>
        <p:nvSpPr>
          <p:cNvPr id="192" name="Rounded Rectangle 16"/>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compare the vehicle model as well as age and mileage. Predictive value does not establish causation.</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194"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Did bounded tuning improve the estimate?</a:t>
            </a:r>
            <a:endParaRPr b="0" lang="en-US" sz="2900" spc="-1" strike="noStrike">
              <a:solidFill>
                <a:srgbClr val="000000"/>
              </a:solidFill>
              <a:latin typeface="Arial"/>
            </a:endParaRPr>
          </a:p>
        </p:txBody>
      </p:sp>
      <p:sp>
        <p:nvSpPr>
          <p:cNvPr id="195"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The selected forest reduces reserved-test MAE by 36.9% versus the fixed forest.</a:t>
            </a:r>
            <a:endParaRPr b="0" lang="en-US" sz="1600" spc="-1" strike="noStrike">
              <a:solidFill>
                <a:srgbClr val="000000"/>
              </a:solidFill>
              <a:latin typeface="Arial"/>
            </a:endParaRPr>
          </a:p>
        </p:txBody>
      </p:sp>
      <p:sp>
        <p:nvSpPr>
          <p:cNvPr id="196"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97"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tuning/search_results.csv; selected_parameters.json; test_metrics.csv. 1,100 reserved rows, 859 above $500.</a:t>
            </a:r>
            <a:endParaRPr b="0" lang="en-US" sz="1100" spc="-1" strike="noStrike">
              <a:solidFill>
                <a:srgbClr val="000000"/>
              </a:solidFill>
              <a:latin typeface="Arial"/>
            </a:endParaRPr>
          </a:p>
        </p:txBody>
      </p:sp>
      <p:sp>
        <p:nvSpPr>
          <p:cNvPr id="198"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07</a:t>
            </a:r>
            <a:endParaRPr b="0" lang="en-US" sz="1100" spc="-1" strike="noStrike">
              <a:solidFill>
                <a:srgbClr val="000000"/>
              </a:solidFill>
              <a:latin typeface="Arial"/>
            </a:endParaRPr>
          </a:p>
        </p:txBody>
      </p:sp>
      <p:graphicFrame>
        <p:nvGraphicFramePr>
          <p:cNvPr id="199" name="Chart 7"/>
          <p:cNvGraphicFramePr/>
          <p:nvPr/>
        </p:nvGraphicFramePr>
        <p:xfrm>
          <a:off x="457200" y="1737360"/>
          <a:ext cx="7040520" cy="3748680"/>
        </p:xfrm>
        <a:graphic>
          <a:graphicData uri="http://schemas.openxmlformats.org/drawingml/2006/chart">
            <c:chart xmlns:c="http://schemas.openxmlformats.org/drawingml/2006/chart" xmlns:r="http://schemas.openxmlformats.org/officeDocument/2006/relationships" r:id="rId1"/>
          </a:graphicData>
        </a:graphic>
      </p:graphicFrame>
      <p:sp>
        <p:nvSpPr>
          <p:cNvPr id="200" name="Rectangle 8"/>
          <p:cNvSpPr/>
          <p:nvPr/>
        </p:nvSpPr>
        <p:spPr>
          <a:xfrm>
            <a:off x="7772400" y="1783080"/>
            <a:ext cx="3867480" cy="137124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 name="Rectangle 9"/>
          <p:cNvSpPr/>
          <p:nvPr/>
        </p:nvSpPr>
        <p:spPr>
          <a:xfrm>
            <a:off x="7772400" y="1783080"/>
            <a:ext cx="72720" cy="137124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 name="TextBox 10"/>
          <p:cNvSpPr/>
          <p:nvPr/>
        </p:nvSpPr>
        <p:spPr>
          <a:xfrm>
            <a:off x="8046720" y="1892880"/>
            <a:ext cx="3456000" cy="488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007c85"/>
                </a:solidFill>
                <a:latin typeface="Calibri"/>
              </a:rPr>
              <a:t>-36.9%</a:t>
            </a:r>
            <a:endParaRPr b="0" lang="en-US" sz="3200" spc="-1" strike="noStrike">
              <a:solidFill>
                <a:srgbClr val="000000"/>
              </a:solidFill>
              <a:latin typeface="Arial"/>
            </a:endParaRPr>
          </a:p>
        </p:txBody>
      </p:sp>
      <p:sp>
        <p:nvSpPr>
          <p:cNvPr id="203" name="TextBox 11"/>
          <p:cNvSpPr/>
          <p:nvPr/>
        </p:nvSpPr>
        <p:spPr>
          <a:xfrm>
            <a:off x="8046720" y="2502360"/>
            <a:ext cx="345600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reserved-test MAE vs fixed forest</a:t>
            </a:r>
            <a:endParaRPr b="0" lang="en-US" sz="1400" spc="-1" strike="noStrike">
              <a:solidFill>
                <a:srgbClr val="000000"/>
              </a:solidFill>
              <a:latin typeface="Arial"/>
            </a:endParaRPr>
          </a:p>
        </p:txBody>
      </p:sp>
      <p:sp>
        <p:nvSpPr>
          <p:cNvPr id="204" name="Rectangle 12"/>
          <p:cNvSpPr/>
          <p:nvPr/>
        </p:nvSpPr>
        <p:spPr>
          <a:xfrm>
            <a:off x="7772400" y="3291840"/>
            <a:ext cx="3867480" cy="21942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 name="Rectangle 13"/>
          <p:cNvSpPr/>
          <p:nvPr/>
        </p:nvSpPr>
        <p:spPr>
          <a:xfrm>
            <a:off x="7772400" y="3291840"/>
            <a:ext cx="72720" cy="21942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TextBox 14"/>
          <p:cNvSpPr/>
          <p:nvPr/>
        </p:nvSpPr>
        <p:spPr>
          <a:xfrm>
            <a:off x="8046720" y="3429000"/>
            <a:ext cx="341028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Selected configuration</a:t>
            </a:r>
            <a:endParaRPr b="0" lang="en-US" sz="1400" spc="-1" strike="noStrike">
              <a:solidFill>
                <a:srgbClr val="000000"/>
              </a:solidFill>
              <a:latin typeface="Arial"/>
            </a:endParaRPr>
          </a:p>
        </p:txBody>
      </p:sp>
      <p:sp>
        <p:nvSpPr>
          <p:cNvPr id="207" name="TextBox 15"/>
          <p:cNvSpPr/>
          <p:nvPr/>
        </p:nvSpPr>
        <p:spPr>
          <a:xfrm>
            <a:off x="8046720" y="3750840"/>
            <a:ext cx="341028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250 trees. Depth: no explicit limit.</a:t>
            </a:r>
            <a:endParaRPr b="0" lang="en-US" sz="1300" spc="-1" strike="noStrike">
              <a:solidFill>
                <a:srgbClr val="000000"/>
              </a:solidFill>
              <a:latin typeface="Arial"/>
            </a:endParaRPr>
          </a:p>
        </p:txBody>
      </p:sp>
      <p:sp>
        <p:nvSpPr>
          <p:cNvPr id="208" name="TextBox 16"/>
          <p:cNvSpPr/>
          <p:nvPr/>
        </p:nvSpPr>
        <p:spPr>
          <a:xfrm>
            <a:off x="8046720" y="4073040"/>
            <a:ext cx="341028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Minimum leaf: 2. Features per split: 100%.</a:t>
            </a:r>
            <a:endParaRPr b="0" lang="en-US" sz="1300" spc="-1" strike="noStrike">
              <a:solidFill>
                <a:srgbClr val="000000"/>
              </a:solidFill>
              <a:latin typeface="Arial"/>
            </a:endParaRPr>
          </a:p>
        </p:txBody>
      </p:sp>
      <p:sp>
        <p:nvSpPr>
          <p:cNvPr id="209" name="TextBox 17"/>
          <p:cNvSpPr/>
          <p:nvPr/>
        </p:nvSpPr>
        <p:spPr>
          <a:xfrm>
            <a:off x="8046720" y="4394880"/>
            <a:ext cx="341028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Reserved R-squared: 0.971</a:t>
            </a:r>
            <a:endParaRPr b="0" lang="en-US" sz="1300" spc="-1" strike="noStrike">
              <a:solidFill>
                <a:srgbClr val="000000"/>
              </a:solidFill>
              <a:latin typeface="Arial"/>
            </a:endParaRPr>
          </a:p>
        </p:txBody>
      </p:sp>
      <p:sp>
        <p:nvSpPr>
          <p:cNvPr id="210" name="TextBox 18"/>
          <p:cNvSpPr/>
          <p:nvPr/>
        </p:nvSpPr>
        <p:spPr>
          <a:xfrm>
            <a:off x="548640" y="5531760"/>
            <a:ext cx="110638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Internal reservation from previously explored data. New-period and external-market validation remain untested.</a:t>
            </a:r>
            <a:endParaRPr b="0" lang="en-US" sz="1200" spc="-1" strike="noStrike">
              <a:solidFill>
                <a:srgbClr val="000000"/>
              </a:solidFill>
              <a:latin typeface="Arial"/>
            </a:endParaRPr>
          </a:p>
        </p:txBody>
      </p:sp>
      <p:sp>
        <p:nvSpPr>
          <p:cNvPr id="211" name="Rounded Rectangle 19"/>
          <p:cNvSpPr/>
          <p:nvPr/>
        </p:nvSpPr>
        <p:spPr>
          <a:xfrm>
            <a:off x="548640" y="580644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C080 is the recommended tested configuration. The search does not prove a global optimum.</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21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Where are prediction errors largest?</a:t>
            </a:r>
            <a:endParaRPr b="0" lang="en-US" sz="2900" spc="-1" strike="noStrike">
              <a:solidFill>
                <a:srgbClr val="000000"/>
              </a:solidFill>
              <a:latin typeface="Arial"/>
            </a:endParaRPr>
          </a:p>
        </p:txBody>
      </p:sp>
      <p:sp>
        <p:nvSpPr>
          <p:cNvPr id="21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Error rises with asking-price band. Over-$30k listings tend to be under-predicted.</a:t>
            </a:r>
            <a:endParaRPr b="0" lang="en-US" sz="1600" spc="-1" strike="noStrike">
              <a:solidFill>
                <a:srgbClr val="000000"/>
              </a:solidFill>
              <a:latin typeface="Arial"/>
            </a:endParaRPr>
          </a:p>
        </p:txBody>
      </p:sp>
      <p:sp>
        <p:nvSpPr>
          <p:cNvPr id="21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1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tuning/test_errors_by_price_band.csv. Selected model C080, reserved listings only.</a:t>
            </a:r>
            <a:endParaRPr b="0" lang="en-US" sz="1100" spc="-1" strike="noStrike">
              <a:solidFill>
                <a:srgbClr val="000000"/>
              </a:solidFill>
              <a:latin typeface="Arial"/>
            </a:endParaRPr>
          </a:p>
        </p:txBody>
      </p:sp>
      <p:sp>
        <p:nvSpPr>
          <p:cNvPr id="21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08</a:t>
            </a:r>
            <a:endParaRPr b="0" lang="en-US" sz="1100" spc="-1" strike="noStrike">
              <a:solidFill>
                <a:srgbClr val="000000"/>
              </a:solidFill>
              <a:latin typeface="Arial"/>
            </a:endParaRPr>
          </a:p>
        </p:txBody>
      </p:sp>
      <p:graphicFrame>
        <p:nvGraphicFramePr>
          <p:cNvPr id="218" name="Chart 7"/>
          <p:cNvGraphicFramePr/>
          <p:nvPr/>
        </p:nvGraphicFramePr>
        <p:xfrm>
          <a:off x="457200" y="1691640"/>
          <a:ext cx="11155320" cy="27428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19" name="Table 8"/>
          <p:cNvGraphicFramePr/>
          <p:nvPr/>
        </p:nvGraphicFramePr>
        <p:xfrm>
          <a:off x="548640" y="4526280"/>
          <a:ext cx="11091240" cy="1151640"/>
        </p:xfrm>
        <a:graphic>
          <a:graphicData uri="http://schemas.openxmlformats.org/drawingml/2006/table">
            <a:tbl>
              <a:tblPr/>
              <a:tblGrid>
                <a:gridCol w="2194560"/>
                <a:gridCol w="1779120"/>
                <a:gridCol w="1779120"/>
                <a:gridCol w="1779120"/>
                <a:gridCol w="1779120"/>
                <a:gridCol w="1779120"/>
              </a:tblGrid>
              <a:tr h="383760">
                <a:tc>
                  <a:txBody>
                    <a:bodyPr anchor="ctr">
                      <a:noAutofit/>
                    </a:bodyPr>
                    <a:p>
                      <a:pPr defTabSz="457200">
                        <a:lnSpc>
                          <a:spcPct val="100000"/>
                        </a:lnSpc>
                      </a:pPr>
                      <a:r>
                        <a:rPr b="1" lang="en-US" sz="1400" spc="-1" strike="noStrike">
                          <a:solidFill>
                            <a:srgbClr val="ffffff"/>
                          </a:solidFill>
                          <a:latin typeface="Calibri"/>
                        </a:rPr>
                        <a:t>Price band</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c>
                  <a:txBody>
                    <a:bodyPr anchor="ctr">
                      <a:noAutofit/>
                    </a:bodyPr>
                    <a:p>
                      <a:pPr defTabSz="457200">
                        <a:lnSpc>
                          <a:spcPct val="100000"/>
                        </a:lnSpc>
                      </a:pPr>
                      <a:r>
                        <a:rPr b="1" lang="en-US" sz="1400" spc="-1" strike="noStrike">
                          <a:solidFill>
                            <a:srgbClr val="ffffff"/>
                          </a:solidFill>
                          <a:latin typeface="Calibri"/>
                        </a:rPr>
                        <a:t>At $500</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c>
                  <a:txBody>
                    <a:bodyPr anchor="ctr">
                      <a:noAutofit/>
                    </a:bodyPr>
                    <a:p>
                      <a:pPr defTabSz="457200">
                        <a:lnSpc>
                          <a:spcPct val="100000"/>
                        </a:lnSpc>
                      </a:pPr>
                      <a:r>
                        <a:rPr b="1" lang="en-US" sz="1400" spc="-1" strike="noStrike">
                          <a:solidFill>
                            <a:srgbClr val="ffffff"/>
                          </a:solidFill>
                          <a:latin typeface="Calibri"/>
                        </a:rPr>
                        <a:t>&gt;$500-5k</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c>
                  <a:txBody>
                    <a:bodyPr anchor="ctr">
                      <a:noAutofit/>
                    </a:bodyPr>
                    <a:p>
                      <a:pPr defTabSz="457200">
                        <a:lnSpc>
                          <a:spcPct val="100000"/>
                        </a:lnSpc>
                      </a:pPr>
                      <a:r>
                        <a:rPr b="1" lang="en-US" sz="1400" spc="-1" strike="noStrike">
                          <a:solidFill>
                            <a:srgbClr val="ffffff"/>
                          </a:solidFill>
                          <a:latin typeface="Calibri"/>
                        </a:rPr>
                        <a:t>&gt;$5k-15k</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c>
                  <a:txBody>
                    <a:bodyPr anchor="ctr">
                      <a:noAutofit/>
                    </a:bodyPr>
                    <a:p>
                      <a:pPr defTabSz="457200">
                        <a:lnSpc>
                          <a:spcPct val="100000"/>
                        </a:lnSpc>
                      </a:pPr>
                      <a:r>
                        <a:rPr b="1" lang="en-US" sz="1400" spc="-1" strike="noStrike">
                          <a:solidFill>
                            <a:srgbClr val="ffffff"/>
                          </a:solidFill>
                          <a:latin typeface="Calibri"/>
                        </a:rPr>
                        <a:t>&gt;$15k-30k</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c>
                  <a:txBody>
                    <a:bodyPr anchor="ctr">
                      <a:noAutofit/>
                    </a:bodyPr>
                    <a:p>
                      <a:pPr defTabSz="457200">
                        <a:lnSpc>
                          <a:spcPct val="100000"/>
                        </a:lnSpc>
                      </a:pPr>
                      <a:r>
                        <a:rPr b="1" lang="en-US" sz="1400" spc="-1" strike="noStrike">
                          <a:solidFill>
                            <a:srgbClr val="ffffff"/>
                          </a:solidFill>
                          <a:latin typeface="Calibri"/>
                        </a:rPr>
                        <a:t>&gt;$30k</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3293d"/>
                    </a:solidFill>
                  </a:tcPr>
                </a:tc>
              </a:tr>
              <a:tr h="383760">
                <a:tc>
                  <a:txBody>
                    <a:bodyPr anchor="ctr">
                      <a:noAutofit/>
                    </a:bodyPr>
                    <a:p>
                      <a:pPr defTabSz="457200">
                        <a:lnSpc>
                          <a:spcPct val="100000"/>
                        </a:lnSpc>
                      </a:pPr>
                      <a:r>
                        <a:rPr b="0" lang="en-US" sz="1400" spc="-1" strike="noStrike">
                          <a:solidFill>
                            <a:srgbClr val="2b3540"/>
                          </a:solidFill>
                          <a:latin typeface="Calibri"/>
                        </a:rPr>
                        <a:t>Listings (n)</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c>
                  <a:txBody>
                    <a:bodyPr anchor="ctr">
                      <a:noAutofit/>
                    </a:bodyPr>
                    <a:p>
                      <a:pPr defTabSz="457200">
                        <a:lnSpc>
                          <a:spcPct val="100000"/>
                        </a:lnSpc>
                      </a:pPr>
                      <a:r>
                        <a:rPr b="0" lang="en-US" sz="1400" spc="-1" strike="noStrike">
                          <a:solidFill>
                            <a:srgbClr val="2b3540"/>
                          </a:solidFill>
                          <a:latin typeface="Calibri"/>
                        </a:rPr>
                        <a:t>241</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c>
                  <a:txBody>
                    <a:bodyPr anchor="ctr">
                      <a:noAutofit/>
                    </a:bodyPr>
                    <a:p>
                      <a:pPr defTabSz="457200">
                        <a:lnSpc>
                          <a:spcPct val="100000"/>
                        </a:lnSpc>
                      </a:pPr>
                      <a:r>
                        <a:rPr b="0" lang="en-US" sz="1400" spc="-1" strike="noStrike">
                          <a:solidFill>
                            <a:srgbClr val="2b3540"/>
                          </a:solidFill>
                          <a:latin typeface="Calibri"/>
                        </a:rPr>
                        <a:t>185</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c>
                  <a:txBody>
                    <a:bodyPr anchor="ctr">
                      <a:noAutofit/>
                    </a:bodyPr>
                    <a:p>
                      <a:pPr defTabSz="457200">
                        <a:lnSpc>
                          <a:spcPct val="100000"/>
                        </a:lnSpc>
                      </a:pPr>
                      <a:r>
                        <a:rPr b="0" lang="en-US" sz="1400" spc="-1" strike="noStrike">
                          <a:solidFill>
                            <a:srgbClr val="2b3540"/>
                          </a:solidFill>
                          <a:latin typeface="Calibri"/>
                        </a:rPr>
                        <a:t>318</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c>
                  <a:txBody>
                    <a:bodyPr anchor="ctr">
                      <a:noAutofit/>
                    </a:bodyPr>
                    <a:p>
                      <a:pPr defTabSz="457200">
                        <a:lnSpc>
                          <a:spcPct val="100000"/>
                        </a:lnSpc>
                      </a:pPr>
                      <a:r>
                        <a:rPr b="0" lang="en-US" sz="1400" spc="-1" strike="noStrike">
                          <a:solidFill>
                            <a:srgbClr val="2b3540"/>
                          </a:solidFill>
                          <a:latin typeface="Calibri"/>
                        </a:rPr>
                        <a:t>251</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c>
                  <a:txBody>
                    <a:bodyPr anchor="ctr">
                      <a:noAutofit/>
                    </a:bodyPr>
                    <a:p>
                      <a:pPr defTabSz="457200">
                        <a:lnSpc>
                          <a:spcPct val="100000"/>
                        </a:lnSpc>
                      </a:pPr>
                      <a:r>
                        <a:rPr b="0" lang="en-US" sz="1400" spc="-1" strike="noStrike">
                          <a:solidFill>
                            <a:srgbClr val="2b3540"/>
                          </a:solidFill>
                          <a:latin typeface="Calibri"/>
                        </a:rPr>
                        <a:t>105</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2f5"/>
                    </a:solidFill>
                  </a:tcPr>
                </a:tc>
              </a:tr>
              <a:tr h="383760">
                <a:tc>
                  <a:txBody>
                    <a:bodyPr anchor="ctr">
                      <a:noAutofit/>
                    </a:bodyPr>
                    <a:p>
                      <a:pPr defTabSz="457200">
                        <a:lnSpc>
                          <a:spcPct val="100000"/>
                        </a:lnSpc>
                      </a:pPr>
                      <a:r>
                        <a:rPr b="0" lang="en-US" sz="1400" spc="-1" strike="noStrike">
                          <a:solidFill>
                            <a:srgbClr val="2b3540"/>
                          </a:solidFill>
                          <a:latin typeface="Calibri"/>
                        </a:rPr>
                        <a:t>Mean residual</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b="0" lang="en-US" sz="1400" spc="-1" strike="noStrike">
                          <a:solidFill>
                            <a:srgbClr val="2b3540"/>
                          </a:solidFill>
                          <a:latin typeface="Calibri"/>
                        </a:rPr>
                        <a:t>-$204</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b="0" lang="en-US" sz="1400" spc="-1" strike="noStrike">
                          <a:solidFill>
                            <a:srgbClr val="2b3540"/>
                          </a:solidFill>
                          <a:latin typeface="Calibri"/>
                        </a:rPr>
                        <a:t>-$626</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b="0" lang="en-US" sz="1400" spc="-1" strike="noStrike">
                          <a:solidFill>
                            <a:srgbClr val="2b3540"/>
                          </a:solidFill>
                          <a:latin typeface="Calibri"/>
                        </a:rPr>
                        <a:t>+$154</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b="0" lang="en-US" sz="1400" spc="-1" strike="noStrike">
                          <a:solidFill>
                            <a:srgbClr val="2b3540"/>
                          </a:solidFill>
                          <a:latin typeface="Calibri"/>
                        </a:rPr>
                        <a:t>+$645</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b="0" lang="en-US" sz="1400" spc="-1" strike="noStrike">
                          <a:solidFill>
                            <a:srgbClr val="2b3540"/>
                          </a:solidFill>
                          <a:latin typeface="Calibri"/>
                        </a:rPr>
                        <a:t>+$1,833</a:t>
                      </a:r>
                      <a:endParaRPr b="0" lang="en-US" sz="14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20" name="TextBox 9"/>
          <p:cNvSpPr/>
          <p:nvPr/>
        </p:nvSpPr>
        <p:spPr>
          <a:xfrm>
            <a:off x="548640" y="5715000"/>
            <a:ext cx="110638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5b6876"/>
                </a:solidFill>
                <a:latin typeface="Calibri"/>
              </a:rPr>
              <a:t>Residual = asking price - estimate; positive means under-prediction. Overall 90th-percentile absolute error: $3,384.</a:t>
            </a:r>
            <a:endParaRPr b="0" lang="en-US" sz="1200" spc="-1" strike="noStrike">
              <a:solidFill>
                <a:srgbClr val="000000"/>
              </a:solidFill>
              <a:latin typeface="Arial"/>
            </a:endParaRPr>
          </a:p>
        </p:txBody>
      </p:sp>
      <p:sp>
        <p:nvSpPr>
          <p:cNvPr id="221" name="Rounded Rectangle 10"/>
          <p:cNvSpPr/>
          <p:nvPr/>
        </p:nvSpPr>
        <p:spPr>
          <a:xfrm>
            <a:off x="548640" y="5989320"/>
            <a:ext cx="11091240" cy="38376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check errors by segment and use independent comparables before acting on an individual estimate.</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22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What does the listing mix mean for inventory analysis?</a:t>
            </a:r>
            <a:endParaRPr b="0" lang="en-US" sz="2900" spc="-1" strike="noStrike">
              <a:solidFill>
                <a:srgbClr val="000000"/>
              </a:solidFill>
              <a:latin typeface="Arial"/>
            </a:endParaRPr>
          </a:p>
        </p:txBody>
      </p:sp>
      <p:sp>
        <p:nvSpPr>
          <p:cNvPr id="22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Ages 0-9 hold 85.3% of asking value. SUVs and sedans represent 89.9% of listings.</a:t>
            </a:r>
            <a:endParaRPr b="0" lang="en-US" sz="1600" spc="-1" strike="noStrike">
              <a:solidFill>
                <a:srgbClr val="000000"/>
              </a:solidFill>
              <a:latin typeface="Arial"/>
            </a:endParaRPr>
          </a:p>
        </p:txBody>
      </p:sp>
      <p:sp>
        <p:nvSpPr>
          <p:cNvPr id="22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2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management/age_concentration.csv; dataset_clean.csv. Asking value is the sum of listed prices.</a:t>
            </a:r>
            <a:endParaRPr b="0" lang="en-US" sz="1100" spc="-1" strike="noStrike">
              <a:solidFill>
                <a:srgbClr val="000000"/>
              </a:solidFill>
              <a:latin typeface="Arial"/>
            </a:endParaRPr>
          </a:p>
        </p:txBody>
      </p:sp>
      <p:sp>
        <p:nvSpPr>
          <p:cNvPr id="22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09</a:t>
            </a:r>
            <a:endParaRPr b="0" lang="en-US" sz="1100" spc="-1" strike="noStrike">
              <a:solidFill>
                <a:srgbClr val="000000"/>
              </a:solidFill>
              <a:latin typeface="Arial"/>
            </a:endParaRPr>
          </a:p>
        </p:txBody>
      </p:sp>
      <p:graphicFrame>
        <p:nvGraphicFramePr>
          <p:cNvPr id="228" name="Chart 7"/>
          <p:cNvGraphicFramePr/>
          <p:nvPr/>
        </p:nvGraphicFramePr>
        <p:xfrm>
          <a:off x="457200" y="1737360"/>
          <a:ext cx="667476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229" name="TextBox 8"/>
          <p:cNvSpPr/>
          <p:nvPr/>
        </p:nvSpPr>
        <p:spPr>
          <a:xfrm>
            <a:off x="7406640" y="1737360"/>
            <a:ext cx="420588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Body type, share of listings</a:t>
            </a:r>
            <a:endParaRPr b="0" lang="en-US" sz="1400" spc="-1" strike="noStrike">
              <a:solidFill>
                <a:srgbClr val="000000"/>
              </a:solidFill>
              <a:latin typeface="Arial"/>
            </a:endParaRPr>
          </a:p>
        </p:txBody>
      </p:sp>
      <p:graphicFrame>
        <p:nvGraphicFramePr>
          <p:cNvPr id="230" name="Chart 9"/>
          <p:cNvGraphicFramePr/>
          <p:nvPr/>
        </p:nvGraphicFramePr>
        <p:xfrm>
          <a:off x="7315200" y="2011680"/>
          <a:ext cx="4343040" cy="3565800"/>
        </p:xfrm>
        <a:graphic>
          <a:graphicData uri="http://schemas.openxmlformats.org/drawingml/2006/chart">
            <c:chart xmlns:c="http://schemas.openxmlformats.org/drawingml/2006/chart" xmlns:r="http://schemas.openxmlformats.org/officeDocument/2006/relationships" r:id="rId2"/>
          </a:graphicData>
        </a:graphic>
      </p:graphicFrame>
      <p:sp>
        <p:nvSpPr>
          <p:cNvPr id="231" name="Rounded Rectangle 10"/>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describe composition separately from price patterns. Stock allocation needs costs and sales outcomes.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233"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Can model gaps identify genuine pricing issues?</a:t>
            </a:r>
            <a:endParaRPr b="0" lang="en-US" sz="2900" spc="-1" strike="noStrike">
              <a:solidFill>
                <a:srgbClr val="000000"/>
              </a:solidFill>
              <a:latin typeface="Arial"/>
            </a:endParaRPr>
          </a:p>
        </p:txBody>
      </p:sp>
      <p:sp>
        <p:nvSpPr>
          <p:cNvPr id="234" name="TextBox 3"/>
          <p:cNvSpPr/>
          <p:nvPr/>
        </p:nvSpPr>
        <p:spPr>
          <a:xfrm>
            <a:off x="548640" y="1024200"/>
            <a:ext cx="110638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The selection methods show bias. Actual issue detection remains unverified.</a:t>
            </a:r>
            <a:endParaRPr b="0" lang="en-US" sz="1600" spc="-1" strike="noStrike">
              <a:solidFill>
                <a:srgbClr val="000000"/>
              </a:solidFill>
              <a:latin typeface="Arial"/>
            </a:endParaRPr>
          </a:p>
        </p:txBody>
      </p:sp>
      <p:sp>
        <p:nvSpPr>
          <p:cNvPr id="235"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36"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decision/queue_composition.csv; balanced_audit.csv; random_controls.csv. Development CV predictions.</a:t>
            </a:r>
            <a:endParaRPr b="0" lang="en-US" sz="1100" spc="-1" strike="noStrike">
              <a:solidFill>
                <a:srgbClr val="000000"/>
              </a:solidFill>
              <a:latin typeface="Arial"/>
            </a:endParaRPr>
          </a:p>
        </p:txBody>
      </p:sp>
      <p:sp>
        <p:nvSpPr>
          <p:cNvPr id="237"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10</a:t>
            </a:r>
            <a:endParaRPr b="0" lang="en-US" sz="1100" spc="-1" strike="noStrike">
              <a:solidFill>
                <a:srgbClr val="000000"/>
              </a:solidFill>
              <a:latin typeface="Arial"/>
            </a:endParaRPr>
          </a:p>
        </p:txBody>
      </p:sp>
      <p:graphicFrame>
        <p:nvGraphicFramePr>
          <p:cNvPr id="238" name="Chart 7"/>
          <p:cNvGraphicFramePr/>
          <p:nvPr/>
        </p:nvGraphicFramePr>
        <p:xfrm>
          <a:off x="457200" y="1737360"/>
          <a:ext cx="713196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239" name="Rectangle 8"/>
          <p:cNvSpPr/>
          <p:nvPr/>
        </p:nvSpPr>
        <p:spPr>
          <a:xfrm>
            <a:off x="7863840" y="1828800"/>
            <a:ext cx="3776040" cy="182844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 name="Rectangle 9"/>
          <p:cNvSpPr/>
          <p:nvPr/>
        </p:nvSpPr>
        <p:spPr>
          <a:xfrm>
            <a:off x="7863840" y="1828800"/>
            <a:ext cx="72720" cy="182844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 name="TextBox 10"/>
          <p:cNvSpPr/>
          <p:nvPr/>
        </p:nvSpPr>
        <p:spPr>
          <a:xfrm>
            <a:off x="8138160" y="1965960"/>
            <a:ext cx="33188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What it establishes</a:t>
            </a:r>
            <a:endParaRPr b="0" lang="en-US" sz="1400" spc="-1" strike="noStrike">
              <a:solidFill>
                <a:srgbClr val="000000"/>
              </a:solidFill>
              <a:latin typeface="Arial"/>
            </a:endParaRPr>
          </a:p>
        </p:txBody>
      </p:sp>
      <p:sp>
        <p:nvSpPr>
          <p:cNvPr id="242" name="TextBox 11"/>
          <p:cNvSpPr/>
          <p:nvPr/>
        </p:nvSpPr>
        <p:spPr>
          <a:xfrm>
            <a:off x="8138160" y="2287800"/>
            <a:ext cx="3318840" cy="595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Dollar gaps concentrate on expensive cars. Percentage gaps are sensitive to small denominators.</a:t>
            </a:r>
            <a:endParaRPr b="0" lang="en-US" sz="1300" spc="-1" strike="noStrike">
              <a:solidFill>
                <a:srgbClr val="000000"/>
              </a:solidFill>
              <a:latin typeface="Arial"/>
            </a:endParaRPr>
          </a:p>
        </p:txBody>
      </p:sp>
      <p:sp>
        <p:nvSpPr>
          <p:cNvPr id="243" name="Rectangle 12"/>
          <p:cNvSpPr/>
          <p:nvPr/>
        </p:nvSpPr>
        <p:spPr>
          <a:xfrm>
            <a:off x="7863840" y="3794760"/>
            <a:ext cx="3776040" cy="178272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 name="Rectangle 13"/>
          <p:cNvSpPr/>
          <p:nvPr/>
        </p:nvSpPr>
        <p:spPr>
          <a:xfrm>
            <a:off x="7863840" y="3794760"/>
            <a:ext cx="72720" cy="178272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5" name="TextBox 14"/>
          <p:cNvSpPr/>
          <p:nvPr/>
        </p:nvSpPr>
        <p:spPr>
          <a:xfrm>
            <a:off x="8138160" y="3931920"/>
            <a:ext cx="33188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13293d"/>
                </a:solidFill>
                <a:latin typeface="Calibri"/>
              </a:rPr>
              <a:t>Balanced vs random</a:t>
            </a:r>
            <a:endParaRPr b="0" lang="en-US" sz="1400" spc="-1" strike="noStrike">
              <a:solidFill>
                <a:srgbClr val="000000"/>
              </a:solidFill>
              <a:latin typeface="Arial"/>
            </a:endParaRPr>
          </a:p>
        </p:txBody>
      </p:sp>
      <p:sp>
        <p:nvSpPr>
          <p:cNvPr id="246" name="TextBox 15"/>
          <p:cNvSpPr/>
          <p:nvPr/>
        </p:nvSpPr>
        <p:spPr>
          <a:xfrm>
            <a:off x="8138160" y="4253760"/>
            <a:ext cx="3318840" cy="39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00" spc="-1" strike="noStrike">
                <a:solidFill>
                  <a:srgbClr val="2b3540"/>
                </a:solidFill>
                <a:latin typeface="Calibri"/>
              </a:rPr>
              <a:t>Price bands matched; brand mix still differs (28 vs 19 premium).</a:t>
            </a:r>
            <a:endParaRPr b="0" lang="en-US" sz="1300" spc="-1" strike="noStrike">
              <a:solidFill>
                <a:srgbClr val="000000"/>
              </a:solidFill>
              <a:latin typeface="Arial"/>
            </a:endParaRPr>
          </a:p>
        </p:txBody>
      </p:sp>
      <p:sp>
        <p:nvSpPr>
          <p:cNvPr id="247" name="Rounded Rectangle 16"/>
          <p:cNvSpPr/>
          <p:nvPr/>
        </p:nvSpPr>
        <p:spPr>
          <a:xfrm>
            <a:off x="548640" y="576072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Conclusion: a model gap supports investigation. This dataset alone cannot verify a pricing error or review benefit.</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Box 1"/>
          <p:cNvSpPr/>
          <p:nvPr/>
        </p:nvSpPr>
        <p:spPr>
          <a:xfrm>
            <a:off x="548640" y="237600"/>
            <a:ext cx="82292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7c85"/>
                </a:solidFill>
                <a:latin typeface="Calibri"/>
              </a:rPr>
              <a:t>TECHNICAL TEAM REVIEW</a:t>
            </a:r>
            <a:endParaRPr b="0" lang="en-US" sz="1100" spc="-1" strike="noStrike">
              <a:solidFill>
                <a:srgbClr val="000000"/>
              </a:solidFill>
              <a:latin typeface="Arial"/>
            </a:endParaRPr>
          </a:p>
        </p:txBody>
      </p:sp>
      <p:sp>
        <p:nvSpPr>
          <p:cNvPr id="249" name="TextBox 2"/>
          <p:cNvSpPr/>
          <p:nvPr/>
        </p:nvSpPr>
        <p:spPr>
          <a:xfrm>
            <a:off x="548640" y="457200"/>
            <a:ext cx="1106388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13293d"/>
                </a:solidFill>
                <a:latin typeface="Calibri"/>
              </a:rPr>
              <a:t>Which decisions does the analysis support?</a:t>
            </a:r>
            <a:endParaRPr b="0" lang="en-US" sz="2900" spc="-1" strike="noStrike">
              <a:solidFill>
                <a:srgbClr val="000000"/>
              </a:solidFill>
              <a:latin typeface="Arial"/>
            </a:endParaRPr>
          </a:p>
        </p:txBody>
      </p:sp>
      <p:sp>
        <p:nvSpPr>
          <p:cNvPr id="250" name="TextBox 3"/>
          <p:cNvSpPr/>
          <p:nvPr/>
        </p:nvSpPr>
        <p:spPr>
          <a:xfrm>
            <a:off x="548640" y="1024200"/>
            <a:ext cx="11063880" cy="487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600" spc="-1" strike="noStrike">
                <a:solidFill>
                  <a:srgbClr val="007c85"/>
                </a:solidFill>
                <a:latin typeface="Calibri"/>
              </a:rPr>
              <a:t>Use the observed relationships for price comparisons and collect commercial evidence for purchasing decisions.</a:t>
            </a:r>
            <a:endParaRPr b="0" lang="en-US" sz="1600" spc="-1" strike="noStrike">
              <a:solidFill>
                <a:srgbClr val="000000"/>
              </a:solidFill>
              <a:latin typeface="Arial"/>
            </a:endParaRPr>
          </a:p>
        </p:txBody>
      </p:sp>
      <p:sp>
        <p:nvSpPr>
          <p:cNvPr id="251" name="Rectangle 4"/>
          <p:cNvSpPr/>
          <p:nvPr/>
        </p:nvSpPr>
        <p:spPr>
          <a:xfrm>
            <a:off x="548640" y="1527120"/>
            <a:ext cx="11091240" cy="27000"/>
          </a:xfrm>
          <a:prstGeom prst="rect">
            <a:avLst/>
          </a:prstGeom>
          <a:solidFill>
            <a:srgbClr val="b4bec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252" name="TextBox 5"/>
          <p:cNvSpPr/>
          <p:nvPr/>
        </p:nvSpPr>
        <p:spPr>
          <a:xfrm>
            <a:off x="548640" y="6419160"/>
            <a:ext cx="97837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00" spc="-1" strike="noStrike">
                <a:solidFill>
                  <a:srgbClr val="5b6876"/>
                </a:solidFill>
                <a:latin typeface="Calibri"/>
              </a:rPr>
              <a:t>All preceding source files. Recommendations distinguish measured findings from proposed actions.</a:t>
            </a:r>
            <a:endParaRPr b="0" lang="en-US" sz="1100" spc="-1" strike="noStrike">
              <a:solidFill>
                <a:srgbClr val="000000"/>
              </a:solidFill>
              <a:latin typeface="Arial"/>
            </a:endParaRPr>
          </a:p>
        </p:txBody>
      </p:sp>
      <p:sp>
        <p:nvSpPr>
          <p:cNvPr id="253" name="TextBox 6"/>
          <p:cNvSpPr/>
          <p:nvPr/>
        </p:nvSpPr>
        <p:spPr>
          <a:xfrm>
            <a:off x="10241280" y="6419160"/>
            <a:ext cx="139860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100" spc="-1" strike="noStrike">
                <a:solidFill>
                  <a:srgbClr val="5b6876"/>
                </a:solidFill>
                <a:latin typeface="Calibri"/>
              </a:rPr>
              <a:t>11</a:t>
            </a:r>
            <a:endParaRPr b="0" lang="en-US" sz="1100" spc="-1" strike="noStrike">
              <a:solidFill>
                <a:srgbClr val="000000"/>
              </a:solidFill>
              <a:latin typeface="Arial"/>
            </a:endParaRPr>
          </a:p>
        </p:txBody>
      </p:sp>
      <p:sp>
        <p:nvSpPr>
          <p:cNvPr id="254" name="TextBox 7"/>
          <p:cNvSpPr/>
          <p:nvPr/>
        </p:nvSpPr>
        <p:spPr>
          <a:xfrm>
            <a:off x="548640" y="1645920"/>
            <a:ext cx="54860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SUPPORTED DECISION</a:t>
            </a:r>
            <a:endParaRPr b="0" lang="en-US" sz="1200" spc="-1" strike="noStrike">
              <a:solidFill>
                <a:srgbClr val="000000"/>
              </a:solidFill>
              <a:latin typeface="Arial"/>
            </a:endParaRPr>
          </a:p>
        </p:txBody>
      </p:sp>
      <p:sp>
        <p:nvSpPr>
          <p:cNvPr id="255" name="TextBox 8"/>
          <p:cNvSpPr/>
          <p:nvPr/>
        </p:nvSpPr>
        <p:spPr>
          <a:xfrm>
            <a:off x="6492240" y="1645920"/>
            <a:ext cx="45716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7c85"/>
                </a:solidFill>
                <a:latin typeface="Calibri"/>
              </a:rPr>
              <a:t>UNANSWERED QUESTION AND EVIDENCE NEEDED</a:t>
            </a:r>
            <a:endParaRPr b="0" lang="en-US" sz="1200" spc="-1" strike="noStrike">
              <a:solidFill>
                <a:srgbClr val="000000"/>
              </a:solidFill>
              <a:latin typeface="Arial"/>
            </a:endParaRPr>
          </a:p>
        </p:txBody>
      </p:sp>
      <p:sp>
        <p:nvSpPr>
          <p:cNvPr id="256" name="Rectangle 9"/>
          <p:cNvSpPr/>
          <p:nvPr/>
        </p:nvSpPr>
        <p:spPr>
          <a:xfrm>
            <a:off x="548640" y="1965960"/>
            <a:ext cx="5303160" cy="5940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7" name="TextBox 10"/>
          <p:cNvSpPr/>
          <p:nvPr/>
        </p:nvSpPr>
        <p:spPr>
          <a:xfrm>
            <a:off x="777240" y="214812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Compare age, mileage and model</a:t>
            </a:r>
            <a:endParaRPr b="0" lang="en-US" sz="1500" spc="-1" strike="noStrike">
              <a:solidFill>
                <a:srgbClr val="000000"/>
              </a:solidFill>
              <a:latin typeface="Arial"/>
            </a:endParaRPr>
          </a:p>
        </p:txBody>
      </p:sp>
      <p:sp>
        <p:nvSpPr>
          <p:cNvPr id="258" name="TextBox 11"/>
          <p:cNvSpPr/>
          <p:nvPr/>
        </p:nvSpPr>
        <p:spPr>
          <a:xfrm>
            <a:off x="5870520" y="207972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59" name="Rectangle 12"/>
          <p:cNvSpPr/>
          <p:nvPr/>
        </p:nvSpPr>
        <p:spPr>
          <a:xfrm>
            <a:off x="6492240" y="1965960"/>
            <a:ext cx="51476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 name="Rectangle 13"/>
          <p:cNvSpPr/>
          <p:nvPr/>
        </p:nvSpPr>
        <p:spPr>
          <a:xfrm>
            <a:off x="6492240" y="196596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 name="TextBox 14"/>
          <p:cNvSpPr/>
          <p:nvPr/>
        </p:nvSpPr>
        <p:spPr>
          <a:xfrm>
            <a:off x="6766560" y="215568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Transaction value: realized sale prices</a:t>
            </a:r>
            <a:endParaRPr b="0" lang="en-US" sz="1400" spc="-1" strike="noStrike">
              <a:solidFill>
                <a:srgbClr val="000000"/>
              </a:solidFill>
              <a:latin typeface="Arial"/>
            </a:endParaRPr>
          </a:p>
        </p:txBody>
      </p:sp>
      <p:sp>
        <p:nvSpPr>
          <p:cNvPr id="262" name="Rectangle 15"/>
          <p:cNvSpPr/>
          <p:nvPr/>
        </p:nvSpPr>
        <p:spPr>
          <a:xfrm>
            <a:off x="548640" y="2697480"/>
            <a:ext cx="5303160" cy="5940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TextBox 16"/>
          <p:cNvSpPr/>
          <p:nvPr/>
        </p:nvSpPr>
        <p:spPr>
          <a:xfrm>
            <a:off x="777240" y="287964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Verify $500 and 100-mile patterns</a:t>
            </a:r>
            <a:endParaRPr b="0" lang="en-US" sz="1500" spc="-1" strike="noStrike">
              <a:solidFill>
                <a:srgbClr val="000000"/>
              </a:solidFill>
              <a:latin typeface="Arial"/>
            </a:endParaRPr>
          </a:p>
        </p:txBody>
      </p:sp>
      <p:sp>
        <p:nvSpPr>
          <p:cNvPr id="264" name="TextBox 17"/>
          <p:cNvSpPr/>
          <p:nvPr/>
        </p:nvSpPr>
        <p:spPr>
          <a:xfrm>
            <a:off x="5870520" y="281124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65" name="Rectangle 18"/>
          <p:cNvSpPr/>
          <p:nvPr/>
        </p:nvSpPr>
        <p:spPr>
          <a:xfrm>
            <a:off x="6492240" y="2697480"/>
            <a:ext cx="51476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 name="Rectangle 19"/>
          <p:cNvSpPr/>
          <p:nvPr/>
        </p:nvSpPr>
        <p:spPr>
          <a:xfrm>
            <a:off x="6492240" y="269748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 name="TextBox 20"/>
          <p:cNvSpPr/>
          <p:nvPr/>
        </p:nvSpPr>
        <p:spPr>
          <a:xfrm>
            <a:off x="6766560" y="288720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Source meaning: data-owner documentation</a:t>
            </a:r>
            <a:endParaRPr b="0" lang="en-US" sz="1400" spc="-1" strike="noStrike">
              <a:solidFill>
                <a:srgbClr val="000000"/>
              </a:solidFill>
              <a:latin typeface="Arial"/>
            </a:endParaRPr>
          </a:p>
        </p:txBody>
      </p:sp>
      <p:sp>
        <p:nvSpPr>
          <p:cNvPr id="268" name="Rectangle 21"/>
          <p:cNvSpPr/>
          <p:nvPr/>
        </p:nvSpPr>
        <p:spPr>
          <a:xfrm>
            <a:off x="548640" y="3429000"/>
            <a:ext cx="5303160" cy="5940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 name="TextBox 22"/>
          <p:cNvSpPr/>
          <p:nvPr/>
        </p:nvSpPr>
        <p:spPr>
          <a:xfrm>
            <a:off x="777240" y="361116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Use estimates as analytical support</a:t>
            </a:r>
            <a:endParaRPr b="0" lang="en-US" sz="1500" spc="-1" strike="noStrike">
              <a:solidFill>
                <a:srgbClr val="000000"/>
              </a:solidFill>
              <a:latin typeface="Arial"/>
            </a:endParaRPr>
          </a:p>
        </p:txBody>
      </p:sp>
      <p:sp>
        <p:nvSpPr>
          <p:cNvPr id="270" name="TextBox 23"/>
          <p:cNvSpPr/>
          <p:nvPr/>
        </p:nvSpPr>
        <p:spPr>
          <a:xfrm>
            <a:off x="5870520" y="354276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71" name="Rectangle 24"/>
          <p:cNvSpPr/>
          <p:nvPr/>
        </p:nvSpPr>
        <p:spPr>
          <a:xfrm>
            <a:off x="6492240" y="3429000"/>
            <a:ext cx="51476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 name="Rectangle 25"/>
          <p:cNvSpPr/>
          <p:nvPr/>
        </p:nvSpPr>
        <p:spPr>
          <a:xfrm>
            <a:off x="6492240" y="342900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3" name="TextBox 26"/>
          <p:cNvSpPr/>
          <p:nvPr/>
        </p:nvSpPr>
        <p:spPr>
          <a:xfrm>
            <a:off x="6766560" y="361872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Accuracy over time: independent validation</a:t>
            </a:r>
            <a:endParaRPr b="0" lang="en-US" sz="1400" spc="-1" strike="noStrike">
              <a:solidFill>
                <a:srgbClr val="000000"/>
              </a:solidFill>
              <a:latin typeface="Arial"/>
            </a:endParaRPr>
          </a:p>
        </p:txBody>
      </p:sp>
      <p:sp>
        <p:nvSpPr>
          <p:cNvPr id="274" name="Rectangle 27"/>
          <p:cNvSpPr/>
          <p:nvPr/>
        </p:nvSpPr>
        <p:spPr>
          <a:xfrm>
            <a:off x="548640" y="4160520"/>
            <a:ext cx="5303160" cy="5940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 name="TextBox 28"/>
          <p:cNvSpPr/>
          <p:nvPr/>
        </p:nvSpPr>
        <p:spPr>
          <a:xfrm>
            <a:off x="777240" y="434268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Assess older/$500 records separately</a:t>
            </a:r>
            <a:endParaRPr b="0" lang="en-US" sz="1500" spc="-1" strike="noStrike">
              <a:solidFill>
                <a:srgbClr val="000000"/>
              </a:solidFill>
              <a:latin typeface="Arial"/>
            </a:endParaRPr>
          </a:p>
        </p:txBody>
      </p:sp>
      <p:sp>
        <p:nvSpPr>
          <p:cNvPr id="276" name="TextBox 29"/>
          <p:cNvSpPr/>
          <p:nvPr/>
        </p:nvSpPr>
        <p:spPr>
          <a:xfrm>
            <a:off x="5870520" y="427428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77" name="Rectangle 30"/>
          <p:cNvSpPr/>
          <p:nvPr/>
        </p:nvSpPr>
        <p:spPr>
          <a:xfrm>
            <a:off x="6492240" y="4160520"/>
            <a:ext cx="51476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8" name="Rectangle 31"/>
          <p:cNvSpPr/>
          <p:nvPr/>
        </p:nvSpPr>
        <p:spPr>
          <a:xfrm>
            <a:off x="6492240" y="416052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 name="TextBox 32"/>
          <p:cNvSpPr/>
          <p:nvPr/>
        </p:nvSpPr>
        <p:spPr>
          <a:xfrm>
            <a:off x="6766560" y="435024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Segment economics: costs and time to sale</a:t>
            </a:r>
            <a:endParaRPr b="0" lang="en-US" sz="1400" spc="-1" strike="noStrike">
              <a:solidFill>
                <a:srgbClr val="000000"/>
              </a:solidFill>
              <a:latin typeface="Arial"/>
            </a:endParaRPr>
          </a:p>
        </p:txBody>
      </p:sp>
      <p:sp>
        <p:nvSpPr>
          <p:cNvPr id="280" name="Rectangle 33"/>
          <p:cNvSpPr/>
          <p:nvPr/>
        </p:nvSpPr>
        <p:spPr>
          <a:xfrm>
            <a:off x="548640" y="4892040"/>
            <a:ext cx="5303160" cy="594000"/>
          </a:xfrm>
          <a:prstGeom prst="rect">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1" name="TextBox 34"/>
          <p:cNvSpPr/>
          <p:nvPr/>
        </p:nvSpPr>
        <p:spPr>
          <a:xfrm>
            <a:off x="777240" y="5074200"/>
            <a:ext cx="4845960" cy="2293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1500" spc="-1" strike="noStrike">
                <a:solidFill>
                  <a:srgbClr val="ffffff"/>
                </a:solidFill>
                <a:latin typeface="Calibri"/>
              </a:rPr>
              <a:t>Measure review before expansion</a:t>
            </a:r>
            <a:endParaRPr b="0" lang="en-US" sz="1500" spc="-1" strike="noStrike">
              <a:solidFill>
                <a:srgbClr val="000000"/>
              </a:solidFill>
              <a:latin typeface="Arial"/>
            </a:endParaRPr>
          </a:p>
        </p:txBody>
      </p:sp>
      <p:sp>
        <p:nvSpPr>
          <p:cNvPr id="282" name="TextBox 35"/>
          <p:cNvSpPr/>
          <p:nvPr/>
        </p:nvSpPr>
        <p:spPr>
          <a:xfrm>
            <a:off x="5870520" y="5005800"/>
            <a:ext cx="502560" cy="3664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400" spc="-1" strike="noStrike">
                <a:solidFill>
                  <a:srgbClr val="007c85"/>
                </a:solidFill>
                <a:latin typeface="Calibri"/>
              </a:rPr>
              <a:t>→</a:t>
            </a:r>
            <a:endParaRPr b="0" lang="en-US" sz="2400" spc="-1" strike="noStrike">
              <a:solidFill>
                <a:srgbClr val="000000"/>
              </a:solidFill>
              <a:latin typeface="Arial"/>
            </a:endParaRPr>
          </a:p>
        </p:txBody>
      </p:sp>
      <p:sp>
        <p:nvSpPr>
          <p:cNvPr id="283" name="Rectangle 36"/>
          <p:cNvSpPr/>
          <p:nvPr/>
        </p:nvSpPr>
        <p:spPr>
          <a:xfrm>
            <a:off x="6492240" y="4892040"/>
            <a:ext cx="5147640" cy="594000"/>
          </a:xfrm>
          <a:prstGeom prst="rect">
            <a:avLst/>
          </a:prstGeom>
          <a:solidFill>
            <a:srgbClr val="eef2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 name="Rectangle 37"/>
          <p:cNvSpPr/>
          <p:nvPr/>
        </p:nvSpPr>
        <p:spPr>
          <a:xfrm>
            <a:off x="6492240" y="4892040"/>
            <a:ext cx="72720" cy="594000"/>
          </a:xfrm>
          <a:prstGeom prst="rect">
            <a:avLst/>
          </a:prstGeom>
          <a:solidFill>
            <a:srgbClr val="007c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5" name="TextBox 38"/>
          <p:cNvSpPr/>
          <p:nvPr/>
        </p:nvSpPr>
        <p:spPr>
          <a:xfrm>
            <a:off x="6766560" y="5081760"/>
            <a:ext cx="4736160" cy="21420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0" lang="en-US" sz="1400" spc="-1" strike="noStrike">
                <a:solidFill>
                  <a:srgbClr val="2b3540"/>
                </a:solidFill>
                <a:latin typeface="Calibri"/>
              </a:rPr>
              <a:t>Issue detection: verified analyst outcomes</a:t>
            </a:r>
            <a:endParaRPr b="0" lang="en-US" sz="1400" spc="-1" strike="noStrike">
              <a:solidFill>
                <a:srgbClr val="000000"/>
              </a:solidFill>
              <a:latin typeface="Arial"/>
            </a:endParaRPr>
          </a:p>
        </p:txBody>
      </p:sp>
      <p:sp>
        <p:nvSpPr>
          <p:cNvPr id="286" name="Rounded Rectangle 39"/>
          <p:cNvSpPr/>
          <p:nvPr/>
        </p:nvSpPr>
        <p:spPr>
          <a:xfrm>
            <a:off x="548640" y="5669280"/>
            <a:ext cx="11091240" cy="566640"/>
          </a:xfrm>
          <a:prstGeom prst="roundRect">
            <a:avLst>
              <a:gd name="adj" fmla="val 16667"/>
            </a:avLst>
          </a:prstGeom>
          <a:solidFill>
            <a:srgbClr val="1329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109800" tIns="45000" bIns="45000" anchor="ctr">
            <a:noAutofit/>
          </a:bodyPr>
          <a:p>
            <a:pPr algn="ctr" defTabSz="457200">
              <a:lnSpc>
                <a:spcPct val="100000"/>
              </a:lnSpc>
            </a:pPr>
            <a:r>
              <a:rPr b="1" lang="en-US" sz="1400" spc="-1" strike="noStrike">
                <a:solidFill>
                  <a:srgbClr val="ffffff"/>
                </a:solidFill>
                <a:latin typeface="Calibri"/>
              </a:rPr>
              <a:t>Recommendation: improve comparison and data verification now. Base purchasing changes on commercial outcomes.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2026-10-11T15:11:52Z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
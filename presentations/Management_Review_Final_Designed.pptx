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Share of listings</c:v>
                </c:pt>
              </c:strCache>
            </c:strRef>
          </c:tx>
          <c:spPr>
            <a:solidFill>
              <a:srgbClr val="b4bec8"/>
            </a:solidFill>
            <a:ln w="0">
              <a:noFill/>
            </a:ln>
          </c:spPr>
          <c:invertIfNegative val="0"/>
          <c:dLbls>
            <c:numFmt formatCode="0.0\%" sourceLinked="0"/>
            <c:txPr>
              <a:bodyPr wrap="square"/>
              <a:lstStyle/>
              <a:p>
                <a:pPr>
                  <a:defRPr b="1" sz="16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0-4 years</c:v>
                </c:pt>
                <c:pt idx="1">
                  <c:v>5-9 years</c:v>
                </c:pt>
                <c:pt idx="2">
                  <c:v>10-14 years</c:v>
                </c:pt>
                <c:pt idx="3">
                  <c:v>15+ years</c:v>
                </c:pt>
              </c:strCache>
            </c:strRef>
          </c:cat>
          <c:val>
            <c:numRef>
              <c:f>0</c:f>
              <c:numCache>
                <c:formatCode>General</c:formatCode>
                <c:ptCount val="4"/>
                <c:pt idx="0">
                  <c:v>25.3</c:v>
                </c:pt>
                <c:pt idx="1">
                  <c:v>24.3</c:v>
                </c:pt>
                <c:pt idx="2">
                  <c:v>25.2</c:v>
                </c:pt>
                <c:pt idx="3">
                  <c:v>25.1</c:v>
                </c:pt>
              </c:numCache>
            </c:numRef>
          </c:val>
        </c:ser>
        <c:ser>
          <c:idx val="1"/>
          <c:order val="1"/>
          <c:tx>
            <c:strRef>
              <c:f>label 1</c:f>
              <c:strCache>
                <c:ptCount val="1"/>
                <c:pt idx="0">
                  <c:v>Share of asking value</c:v>
                </c:pt>
              </c:strCache>
            </c:strRef>
          </c:tx>
          <c:spPr>
            <a:solidFill>
              <a:srgbClr val="007c85"/>
            </a:solidFill>
            <a:ln w="0">
              <a:noFill/>
            </a:ln>
          </c:spPr>
          <c:invertIfNegative val="0"/>
          <c:dLbls>
            <c:numFmt formatCode="0.0\%" sourceLinked="0"/>
            <c:txPr>
              <a:bodyPr wrap="square"/>
              <a:lstStyle/>
              <a:p>
                <a:pPr>
                  <a:defRPr b="1" sz="16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0-4 years</c:v>
                </c:pt>
                <c:pt idx="1">
                  <c:v>5-9 years</c:v>
                </c:pt>
                <c:pt idx="2">
                  <c:v>10-14 years</c:v>
                </c:pt>
                <c:pt idx="3">
                  <c:v>15+ years</c:v>
                </c:pt>
              </c:strCache>
            </c:strRef>
          </c:cat>
          <c:val>
            <c:numRef>
              <c:f>1</c:f>
              <c:numCache>
                <c:formatCode>General</c:formatCode>
                <c:ptCount val="4"/>
                <c:pt idx="0">
                  <c:v>57.8</c:v>
                </c:pt>
                <c:pt idx="1">
                  <c:v>27.4</c:v>
                </c:pt>
                <c:pt idx="2">
                  <c:v>11.4</c:v>
                </c:pt>
                <c:pt idx="3">
                  <c:v>3.3</c:v>
                </c:pt>
              </c:numCache>
            </c:numRef>
          </c:val>
        </c:ser>
        <c:gapWidth val="55"/>
        <c:overlap val="-5"/>
        <c:axId val="75864545"/>
        <c:axId val="57423177"/>
      </c:barChart>
      <c:catAx>
        <c:axId val="75864545"/>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57423177"/>
        <c:crosses val="autoZero"/>
        <c:auto val="1"/>
        <c:lblAlgn val="ctr"/>
        <c:lblOffset val="100"/>
        <c:noMultiLvlLbl val="0"/>
      </c:catAx>
      <c:valAx>
        <c:axId val="57423177"/>
        <c:scaling>
          <c:orientation val="minMax"/>
          <c:max val="7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75864545"/>
        <c:crossBetween val="between"/>
      </c:valAx>
      <c:spPr>
        <a:noFill/>
        <a:ln w="0">
          <a:noFill/>
        </a:ln>
      </c:spPr>
    </c:plotArea>
    <c:legend>
      <c:legendPos val="t"/>
      <c:overlay val="0"/>
      <c:spPr>
        <a:noFill/>
        <a:ln w="0">
          <a:noFill/>
        </a:ln>
      </c:spPr>
      <c:txPr>
        <a:bodyPr/>
        <a:lstStyle/>
        <a:p>
          <a:pPr>
            <a:defRPr b="0" sz="1600" spc="-1" strike="noStrike">
              <a:solidFill>
                <a:srgbClr val="2b3540"/>
              </a:solidFill>
              <a:latin typeface="Calibri"/>
            </a:defRPr>
          </a:pPr>
        </a:p>
      </c:txPr>
    </c:legend>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Share of listings</c:v>
                </c:pt>
              </c:strCache>
            </c:strRef>
          </c:tx>
          <c:spPr>
            <a:solidFill>
              <a:srgbClr val="007c85"/>
            </a:solidFill>
            <a:ln w="0">
              <a:noFill/>
            </a:ln>
          </c:spPr>
          <c:invertIfNegative val="0"/>
          <c:dPt>
            <c:idx val="0"/>
            <c:invertIfNegative val="0"/>
            <c:spPr>
              <a:solidFill>
                <a:srgbClr val="007c85"/>
              </a:solidFill>
              <a:ln w="0">
                <a:noFill/>
              </a:ln>
            </c:spPr>
          </c:dPt>
          <c:dPt>
            <c:idx val="1"/>
            <c:invertIfNegative val="0"/>
            <c:spPr>
              <a:solidFill>
                <a:srgbClr val="007c85"/>
              </a:solidFill>
              <a:ln w="0">
                <a:noFill/>
              </a:ln>
            </c:spPr>
          </c:dPt>
          <c:dPt>
            <c:idx val="2"/>
            <c:invertIfNegative val="0"/>
            <c:spPr>
              <a:solidFill>
                <a:srgbClr val="b4bec8"/>
              </a:solidFill>
              <a:ln w="0">
                <a:noFill/>
              </a:ln>
            </c:spPr>
          </c:dPt>
          <c:dPt>
            <c:idx val="3"/>
            <c:invertIfNegative val="0"/>
            <c:spPr>
              <a:solidFill>
                <a:srgbClr val="b4bec8"/>
              </a:solidFill>
              <a:ln w="0">
                <a:noFill/>
              </a:ln>
            </c:spPr>
          </c:dPt>
          <c:dPt>
            <c:idx val="4"/>
            <c:invertIfNegative val="0"/>
            <c:spPr>
              <a:solidFill>
                <a:srgbClr val="b4bec8"/>
              </a:solidFill>
              <a:ln w="0">
                <a:noFill/>
              </a:ln>
            </c:spPr>
          </c:dPt>
          <c:dLbls>
            <c:numFmt formatCode="0.0\%" sourceLinked="0"/>
            <c:dLbl>
              <c:idx val="0"/>
              <c:numFmt formatCode="0.0\%" sourceLinked="0"/>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dLbl>
            <c:dLbl>
              <c:idx val="4"/>
              <c:numFmt formatCode="0.0\%" sourceLinked="0"/>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dLbl>
            <c:txPr>
              <a:bodyPr wrap="square"/>
              <a:lstStyle/>
              <a:p>
                <a:pPr>
                  <a:defRPr b="1" sz="17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SUV</c:v>
                </c:pt>
                <c:pt idx="1">
                  <c:v>Sedan</c:v>
                </c:pt>
                <c:pt idx="2">
                  <c:v>Truck</c:v>
                </c:pt>
                <c:pt idx="3">
                  <c:v>Coupe</c:v>
                </c:pt>
                <c:pt idx="4">
                  <c:v>Hatchback</c:v>
                </c:pt>
              </c:strCache>
            </c:strRef>
          </c:cat>
          <c:val>
            <c:numRef>
              <c:f>0</c:f>
              <c:numCache>
                <c:formatCode>General</c:formatCode>
                <c:ptCount val="5"/>
                <c:pt idx="0">
                  <c:v>49.1</c:v>
                </c:pt>
                <c:pt idx="1">
                  <c:v>40.7</c:v>
                </c:pt>
                <c:pt idx="2">
                  <c:v>5.1</c:v>
                </c:pt>
                <c:pt idx="3">
                  <c:v>2.7</c:v>
                </c:pt>
                <c:pt idx="4">
                  <c:v>2.3</c:v>
                </c:pt>
              </c:numCache>
            </c:numRef>
          </c:val>
        </c:ser>
        <c:gapWidth val="55"/>
        <c:overlap val="-5"/>
        <c:axId val="63241363"/>
        <c:axId val="60850935"/>
      </c:barChart>
      <c:catAx>
        <c:axId val="63241363"/>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60850935"/>
        <c:crosses val="autoZero"/>
        <c:auto val="1"/>
        <c:lblAlgn val="ctr"/>
        <c:lblOffset val="100"/>
        <c:noMultiLvlLbl val="0"/>
      </c:catAx>
      <c:valAx>
        <c:axId val="60850935"/>
        <c:scaling>
          <c:orientation val="minMax"/>
          <c:max val="62"/>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63241363"/>
        <c:crossBetween val="between"/>
      </c:valAx>
      <c:spPr>
        <a:noFill/>
        <a:ln w="0">
          <a:noFill/>
        </a:ln>
      </c:spPr>
    </c:plotArea>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Ratio</c:v>
                </c:pt>
              </c:strCache>
            </c:strRef>
          </c:tx>
          <c:spPr>
            <a:solidFill>
              <a:srgbClr val="b4bec8"/>
            </a:solidFill>
            <a:ln w="0">
              <a:noFill/>
            </a:ln>
          </c:spPr>
          <c:invertIfNegative val="0"/>
          <c:dPt>
            <c:idx val="0"/>
            <c:invertIfNegative val="0"/>
            <c:spPr>
              <a:solidFill>
                <a:srgbClr val="b4bec8"/>
              </a:solidFill>
              <a:ln w="0">
                <a:noFill/>
              </a:ln>
            </c:spPr>
          </c:dPt>
          <c:dPt>
            <c:idx val="1"/>
            <c:invertIfNegative val="0"/>
            <c:spPr>
              <a:solidFill>
                <a:srgbClr val="b4bec8"/>
              </a:solidFill>
              <a:ln w="0">
                <a:noFill/>
              </a:ln>
            </c:spPr>
          </c:dPt>
          <c:dPt>
            <c:idx val="2"/>
            <c:invertIfNegative val="0"/>
            <c:spPr>
              <a:solidFill>
                <a:srgbClr val="b4bec8"/>
              </a:solidFill>
              <a:ln w="0">
                <a:noFill/>
              </a:ln>
            </c:spPr>
          </c:dPt>
          <c:dPt>
            <c:idx val="3"/>
            <c:invertIfNegative val="0"/>
            <c:spPr>
              <a:solidFill>
                <a:srgbClr val="b4bec8"/>
              </a:solidFill>
              <a:ln w="0">
                <a:noFill/>
              </a:ln>
            </c:spPr>
          </c:dPt>
          <c:dPt>
            <c:idx val="4"/>
            <c:invertIfNegative val="0"/>
            <c:spPr>
              <a:solidFill>
                <a:srgbClr val="b4bec8"/>
              </a:solidFill>
              <a:ln w="0">
                <a:noFill/>
              </a:ln>
            </c:spPr>
          </c:dPt>
          <c:dPt>
            <c:idx val="5"/>
            <c:invertIfNegative val="0"/>
            <c:spPr>
              <a:solidFill>
                <a:srgbClr val="b4bec8"/>
              </a:solidFill>
              <a:ln w="0">
                <a:noFill/>
              </a:ln>
            </c:spPr>
          </c:dPt>
          <c:dPt>
            <c:idx val="6"/>
            <c:invertIfNegative val="0"/>
            <c:spPr>
              <a:solidFill>
                <a:srgbClr val="b4bec8"/>
              </a:solidFill>
              <a:ln w="0">
                <a:noFill/>
              </a:ln>
            </c:spPr>
          </c:dPt>
          <c:dPt>
            <c:idx val="7"/>
            <c:invertIfNegative val="0"/>
            <c:spPr>
              <a:solidFill>
                <a:srgbClr val="007c85"/>
              </a:solidFill>
              <a:ln w="0">
                <a:noFill/>
              </a:ln>
            </c:spPr>
          </c:dPt>
          <c:dPt>
            <c:idx val="8"/>
            <c:invertIfNegative val="0"/>
            <c:spPr>
              <a:solidFill>
                <a:srgbClr val="007c85"/>
              </a:solidFill>
              <a:ln w="0">
                <a:noFill/>
              </a:ln>
            </c:spPr>
          </c:dPt>
          <c:dPt>
            <c:idx val="9"/>
            <c:invertIfNegative val="0"/>
            <c:spPr>
              <a:solidFill>
                <a:srgbClr val="007c85"/>
              </a:solidFill>
              <a:ln w="0">
                <a:noFill/>
              </a:ln>
            </c:spPr>
          </c:dPt>
          <c:dLbls>
            <c:numFmt formatCode="0\%" sourceLinked="0"/>
            <c:dLbl>
              <c:idx val="0"/>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1"/>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2"/>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3"/>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4"/>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5"/>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6"/>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7"/>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8"/>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dLbl>
              <c:idx val="9"/>
              <c:numFmt formatCode="0\%" sourceLinked="0"/>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dLbl>
            <c:txPr>
              <a:bodyPr wrap="square"/>
              <a:lstStyle/>
              <a:p>
                <a:pPr>
                  <a:defRPr b="1" sz="12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10"/>
                <c:pt idx="0">
                  <c:v>Hyundai</c:v>
                </c:pt>
                <c:pt idx="1">
                  <c:v>Ford</c:v>
                </c:pt>
                <c:pt idx="2">
                  <c:v>Honda</c:v>
                </c:pt>
                <c:pt idx="3">
                  <c:v>Chevrolet</c:v>
                </c:pt>
                <c:pt idx="4">
                  <c:v>Toyota</c:v>
                </c:pt>
                <c:pt idx="5">
                  <c:v>Volkswagen</c:v>
                </c:pt>
                <c:pt idx="6">
                  <c:v>Nissan</c:v>
                </c:pt>
                <c:pt idx="7">
                  <c:v>BMW</c:v>
                </c:pt>
                <c:pt idx="8">
                  <c:v>Audi</c:v>
                </c:pt>
                <c:pt idx="9">
                  <c:v>Mercedes-Benz</c:v>
                </c:pt>
              </c:strCache>
            </c:strRef>
          </c:cat>
          <c:val>
            <c:numRef>
              <c:f>0</c:f>
              <c:numCache>
                <c:formatCode>General</c:formatCode>
                <c:ptCount val="10"/>
                <c:pt idx="0">
                  <c:v>41.6</c:v>
                </c:pt>
                <c:pt idx="1">
                  <c:v>45.5</c:v>
                </c:pt>
                <c:pt idx="2">
                  <c:v>46.3</c:v>
                </c:pt>
                <c:pt idx="3">
                  <c:v>47</c:v>
                </c:pt>
                <c:pt idx="4">
                  <c:v>47.1</c:v>
                </c:pt>
                <c:pt idx="5">
                  <c:v>50.9</c:v>
                </c:pt>
                <c:pt idx="6">
                  <c:v>51.3</c:v>
                </c:pt>
                <c:pt idx="7">
                  <c:v>52.4</c:v>
                </c:pt>
                <c:pt idx="8">
                  <c:v>55.6</c:v>
                </c:pt>
                <c:pt idx="9">
                  <c:v>55.6</c:v>
                </c:pt>
              </c:numCache>
            </c:numRef>
          </c:val>
        </c:ser>
        <c:gapWidth val="35"/>
        <c:overlap val="-5"/>
        <c:axId val="55482599"/>
        <c:axId val="4204021"/>
      </c:barChart>
      <c:catAx>
        <c:axId val="55482599"/>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4204021"/>
        <c:crosses val="autoZero"/>
        <c:auto val="1"/>
        <c:lblAlgn val="ctr"/>
        <c:lblOffset val="100"/>
        <c:noMultiLvlLbl val="0"/>
      </c:catAx>
      <c:valAx>
        <c:axId val="4204021"/>
        <c:scaling>
          <c:orientation val="minMax"/>
          <c:max val="7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55482599"/>
        <c:crossBetween val="between"/>
      </c:valAx>
      <c:spPr>
        <a:noFill/>
        <a:ln w="0">
          <a:noFill/>
        </a:ln>
      </c:spPr>
    </c:plotArea>
    <c:plotVisOnly val="1"/>
    <c:dispBlanksAs val="gap"/>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Ratio</c:v>
                </c:pt>
              </c:strCache>
            </c:strRef>
          </c:tx>
          <c:spPr>
            <a:solidFill>
              <a:srgbClr val="b4bec8"/>
            </a:solidFill>
            <a:ln w="0">
              <a:noFill/>
            </a:ln>
          </c:spPr>
          <c:invertIfNegative val="0"/>
          <c:dPt>
            <c:idx val="0"/>
            <c:invertIfNegative val="0"/>
            <c:spPr>
              <a:solidFill>
                <a:srgbClr val="b4bec8"/>
              </a:solidFill>
              <a:ln w="0">
                <a:noFill/>
              </a:ln>
            </c:spPr>
          </c:dPt>
          <c:dPt>
            <c:idx val="1"/>
            <c:invertIfNegative val="0"/>
            <c:spPr>
              <a:solidFill>
                <a:srgbClr val="b4bec8"/>
              </a:solidFill>
              <a:ln w="0">
                <a:noFill/>
              </a:ln>
            </c:spPr>
          </c:dPt>
          <c:dPt>
            <c:idx val="2"/>
            <c:invertIfNegative val="0"/>
            <c:spPr>
              <a:solidFill>
                <a:srgbClr val="b4bec8"/>
              </a:solidFill>
              <a:ln w="0">
                <a:noFill/>
              </a:ln>
            </c:spPr>
          </c:dPt>
          <c:dPt>
            <c:idx val="3"/>
            <c:invertIfNegative val="0"/>
            <c:spPr>
              <a:solidFill>
                <a:srgbClr val="b4bec8"/>
              </a:solidFill>
              <a:ln w="0">
                <a:noFill/>
              </a:ln>
            </c:spPr>
          </c:dPt>
          <c:dPt>
            <c:idx val="4"/>
            <c:invertIfNegative val="0"/>
            <c:spPr>
              <a:solidFill>
                <a:srgbClr val="b4bec8"/>
              </a:solidFill>
              <a:ln w="0">
                <a:noFill/>
              </a:ln>
            </c:spPr>
          </c:dPt>
          <c:dLbls>
            <c:numFmt formatCode="0\%" sourceLinked="0"/>
            <c:dLbl>
              <c:idx val="0"/>
              <c:numFmt formatCode="0\%" sourceLinked="0"/>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dLbl>
            <c:dLbl>
              <c:idx val="1"/>
              <c:numFmt formatCode="0\%" sourceLinked="0"/>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dLbl>
            <c:dLbl>
              <c:idx val="2"/>
              <c:numFmt formatCode="0\%" sourceLinked="0"/>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dLbl>
            <c:dLbl>
              <c:idx val="3"/>
              <c:numFmt formatCode="0\%" sourceLinked="0"/>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dLbl>
            <c:dLbl>
              <c:idx val="4"/>
              <c:numFmt formatCode="0\%" sourceLinked="0"/>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dLbl>
            <c:txPr>
              <a:bodyPr wrap="square"/>
              <a:lstStyle/>
              <a:p>
                <a:pPr>
                  <a:defRPr b="1" sz="13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Coupe</c:v>
                </c:pt>
                <c:pt idx="1">
                  <c:v>Hatchback</c:v>
                </c:pt>
                <c:pt idx="2">
                  <c:v>Sedan</c:v>
                </c:pt>
                <c:pt idx="3">
                  <c:v>Truck</c:v>
                </c:pt>
                <c:pt idx="4">
                  <c:v>SUV</c:v>
                </c:pt>
              </c:strCache>
            </c:strRef>
          </c:cat>
          <c:val>
            <c:numRef>
              <c:f>0</c:f>
              <c:numCache>
                <c:formatCode>General</c:formatCode>
                <c:ptCount val="5"/>
                <c:pt idx="0">
                  <c:v>42.2</c:v>
                </c:pt>
                <c:pt idx="1">
                  <c:v>43.9</c:v>
                </c:pt>
                <c:pt idx="2">
                  <c:v>47.8</c:v>
                </c:pt>
                <c:pt idx="3">
                  <c:v>49.8</c:v>
                </c:pt>
                <c:pt idx="4">
                  <c:v>51.9</c:v>
                </c:pt>
              </c:numCache>
            </c:numRef>
          </c:val>
        </c:ser>
        <c:gapWidth val="45"/>
        <c:overlap val="-5"/>
        <c:axId val="25335719"/>
        <c:axId val="19027249"/>
      </c:barChart>
      <c:catAx>
        <c:axId val="25335719"/>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19027249"/>
        <c:crosses val="autoZero"/>
        <c:auto val="1"/>
        <c:lblAlgn val="ctr"/>
        <c:lblOffset val="100"/>
        <c:noMultiLvlLbl val="0"/>
      </c:catAx>
      <c:valAx>
        <c:axId val="19027249"/>
        <c:scaling>
          <c:orientation val="minMax"/>
          <c:max val="7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25335719"/>
        <c:crossBetween val="between"/>
      </c:valAx>
      <c:spPr>
        <a:noFill/>
        <a:ln w="0">
          <a:noFill/>
        </a:ln>
      </c:spPr>
    </c:plotArea>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31B38E8-D5B9-448C-B25D-E92FF744E04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1143000" y="685800"/>
            <a:ext cx="4571640" cy="3428640"/>
          </a:xfrm>
          <a:prstGeom prst="rect">
            <a:avLst/>
          </a:prstGeom>
          <a:ln w="0">
            <a:noFill/>
          </a:ln>
        </p:spPr>
      </p:sp>
      <p:sp>
        <p:nvSpPr>
          <p:cNvPr id="2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My goal is to recommend what the company should do from the available evidence. I will show where asking value sits, how we should compare prices, and why low-priced older cars need separate assessment. Then I will explain what data would let us choose a purchasing mix and finish with practical actions. Every supporting slide is visible in this submitted deck.</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task.pdf; dataset_clean.csv. All pages are visible. Full evidence deck for reading. The live route can summarise supporting pages to meet the task’s 2–5 minute limit.</a:t>
            </a:r>
            <a:endParaRPr b="0" lang="en-US" sz="2000" spc="-1" strike="noStrike">
              <a:solidFill>
                <a:srgbClr val="000000"/>
              </a:solidFill>
              <a:latin typeface="Arial"/>
            </a:endParaRPr>
          </a:p>
        </p:txBody>
      </p:sp>
      <p:sp>
        <p:nvSpPr>
          <p:cNvPr id="280"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E61D94D-677A-4991-9746-59EDB889B0A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1143000" y="685800"/>
            <a:ext cx="4571640" cy="3428640"/>
          </a:xfrm>
          <a:prstGeom prst="rect">
            <a:avLst/>
          </a:prstGeom>
          <a:ln w="0">
            <a:noFill/>
          </a:ln>
        </p:spPr>
      </p:sp>
      <p:sp>
        <p:nvSpPr>
          <p:cNvPr id="2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four age bands each account for about a quarter of listings, but the dollar sums differ. Cars aged zero to four represent 25.3% of listings and 57.8% of asking value. Including five to nine year cars gives 85.3% of the asking value. Premium brands are 28.9% of records and 46.4% of asking value. The groups overlap. These sums do not measure stock capital, revenue or profit. They give us a reasonable starting focus for price-comparison work, whose usefulness we should measure.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management/age_concentration.csv; slide_data.json. Age = 2024 − model year.</a:t>
            </a:r>
            <a:endParaRPr b="0" lang="en-US" sz="2000" spc="-1" strike="noStrike">
              <a:solidFill>
                <a:srgbClr val="000000"/>
              </a:solidFill>
              <a:latin typeface="Arial"/>
            </a:endParaRPr>
          </a:p>
        </p:txBody>
      </p:sp>
      <p:sp>
        <p:nvSpPr>
          <p:cNvPr id="283"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93B9902-F930-4187-8E26-DC6C9E8E862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43000" y="685800"/>
            <a:ext cx="4571640" cy="3428640"/>
          </a:xfrm>
          <a:prstGeom prst="rect">
            <a:avLst/>
          </a:prstGeom>
          <a:ln w="0">
            <a:noFill/>
          </a:ln>
        </p:spPr>
      </p:sp>
      <p:sp>
        <p:nvSpPr>
          <p:cNvPr id="2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Age and mileage are strongly associated with asking prices, and adding vehicle model substantially improves estimates. For pricing, that means a broad average or an age-only rule misses important vehicle differences. An E-Class and a Corolla can differ even when age and mileage match; that is an illustration, not a prediction from the data. Use the estimate to support comparison with verified history and similar listings. Expensive cars remain under-predicted, so the model cannot set prices automatically. The commercial result of changing a price is not measured here.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exploratory/tables/correlations.csv; fixed_staged_models.csv; tuning/test_metrics.csv; test_errors_by_price_band.csv.</a:t>
            </a:r>
            <a:endParaRPr b="0" lang="en-US" sz="2000" spc="-1" strike="noStrike">
              <a:solidFill>
                <a:srgbClr val="000000"/>
              </a:solidFill>
              <a:latin typeface="Arial"/>
            </a:endParaRPr>
          </a:p>
        </p:txBody>
      </p:sp>
      <p:sp>
        <p:nvSpPr>
          <p:cNvPr id="286"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4C74BC4-5613-42F0-BEAC-3DEA338ED1E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1143000" y="685800"/>
            <a:ext cx="4571640" cy="3428640"/>
          </a:xfrm>
          <a:prstGeom prst="rect">
            <a:avLst/>
          </a:prstGeom>
          <a:ln w="0">
            <a:noFill/>
          </a:ln>
        </p:spPr>
      </p:sp>
      <p:sp>
        <p:nvSpPr>
          <p:cNvPr id="2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Cars aged fifteen or more represent 25.1% of listings but only 3.3% of asking value. Separately, 22.1% of all records are priced exactly $500 and hold about 0.9% of asking value. The groups overlap in 936 records. Among 691 cars aged fifteen or more with at least 200,000 miles, 91.9% are at $500. This raises a source and segment question. It does not establish poor margins. A cheaply acquired car may sell quickly at a good contribution, but we lack costs and sales timing.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management/age_concentration.csv; dataset_clean.csv. 936 records belong to both older and $500 groups.</a:t>
            </a:r>
            <a:endParaRPr b="0" lang="en-US" sz="2000" spc="-1" strike="noStrike">
              <a:solidFill>
                <a:srgbClr val="000000"/>
              </a:solidFill>
              <a:latin typeface="Arial"/>
            </a:endParaRPr>
          </a:p>
        </p:txBody>
      </p:sp>
      <p:sp>
        <p:nvSpPr>
          <p:cNvPr id="289"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245437E-9BD4-4193-B71E-B7F25F5B0C3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1143000" y="685800"/>
            <a:ext cx="4571640" cy="3428640"/>
          </a:xfrm>
          <a:prstGeom prst="rect">
            <a:avLst/>
          </a:prstGeom>
          <a:ln w="0">
            <a:noFill/>
          </a:ln>
        </p:spPr>
      </p:sp>
      <p:sp>
        <p:nvSpPr>
          <p:cNvPr id="2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chart answers the inventory-composition question, not which body type holds value best. SUVs have 2,703 listings, or 49.1%, and sedans 2,240, or 40.7%. Trucks, coupes and hatchbacks are much less represented. The sample composition is not evidence of buyer demand or sales velocity. We should prioritise enough comparison coverage for the large segments while keeping small-group limitations visible. A price-ratio chart on the following page answers a different question and should not be mistaken for inventory share.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dataset_clean.csv. Counts and shares use all 5,500 listings.</a:t>
            </a:r>
            <a:endParaRPr b="0" lang="en-US" sz="2000" spc="-1" strike="noStrike">
              <a:solidFill>
                <a:srgbClr val="000000"/>
              </a:solidFill>
              <a:latin typeface="Arial"/>
            </a:endParaRPr>
          </a:p>
        </p:txBody>
      </p:sp>
      <p:sp>
        <p:nvSpPr>
          <p:cNvPr id="292"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030F8D7-11B9-4132-8D24-FC9AFB84837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1143000" y="685800"/>
            <a:ext cx="4571640" cy="3428640"/>
          </a:xfrm>
          <a:prstGeom prst="rect">
            <a:avLst/>
          </a:prstGeom>
          <a:ln w="0">
            <a:noFill/>
          </a:ln>
        </p:spPr>
      </p:sp>
      <p:sp>
        <p:nvSpPr>
          <p:cNvPr id="2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ratio compares the median asking price of different cars aged five to nine against different cars aged zero to four. It is not depreciation of the same car. Premium makes have ratios around 52 to 56%, versus roughly 42 to 51% for the others. The body chart uses the same ratio, not stock share. Both age groups have 27 to 46 hatchback or coupe records, so those results need caution. Age, mileage, trim and model composition can differ. These findings identify segments for closer comparison, not a buying recommendation.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management/make_ratios.csv; body_type_ratios.csv. Median price at age 5–9 ÷ median at age 0–4.</a:t>
            </a:r>
            <a:endParaRPr b="0" lang="en-US" sz="2000" spc="-1" strike="noStrike">
              <a:solidFill>
                <a:srgbClr val="000000"/>
              </a:solidFill>
              <a:latin typeface="Arial"/>
            </a:endParaRPr>
          </a:p>
        </p:txBody>
      </p:sp>
      <p:sp>
        <p:nvSpPr>
          <p:cNvPr id="295"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6CEBBB0-367F-4DFF-8BDA-26F405032D8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43000" y="685800"/>
            <a:ext cx="4571640" cy="3428640"/>
          </a:xfrm>
          <a:prstGeom prst="rect">
            <a:avLst/>
          </a:prstGeom>
          <a:ln w="0">
            <a:noFill/>
          </a:ln>
        </p:spPr>
      </p:sp>
      <p:sp>
        <p:nvSpPr>
          <p:cNvPr id="2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To choose what to buy, we need the realised sale price, acquisition and repair costs and other direct costs. Those give contribution before overhead according to the chosen cost definition. Listing, acquisition and sale dates plus unsold-stock age show how quickly stock moves and how long capital is tied up. Holding costs complete the picture. Vehicle ID, trim and verified condition make the comparisons more reliable. A final mix decision also needs demand, available capital and operational constraints. We cannot calculate a reliable profit forecast from the asking-price data alone.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Missing fields in dataset_clean.csv. Proposed collection, not measured results.</a:t>
            </a:r>
            <a:endParaRPr b="0" lang="en-US" sz="2000" spc="-1" strike="noStrike">
              <a:solidFill>
                <a:srgbClr val="000000"/>
              </a:solidFill>
              <a:latin typeface="Arial"/>
            </a:endParaRPr>
          </a:p>
        </p:txBody>
      </p:sp>
      <p:sp>
        <p:nvSpPr>
          <p:cNvPr id="298"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AEA9FD6-63FD-4281-9A99-D409FB4699B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1143000" y="685800"/>
            <a:ext cx="4571640" cy="3428640"/>
          </a:xfrm>
          <a:prstGeom prst="rect">
            <a:avLst/>
          </a:prstGeom>
          <a:ln w="0">
            <a:noFill/>
          </a:ln>
        </p:spPr>
      </p:sp>
      <p:sp>
        <p:nvSpPr>
          <p:cNvPr id="3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My recommendation is to improve price-comparison discipline now, starting with high asking-value segments and checking individual comparable cars. Separately verify the repeated minimum values and older-car economics. Start recording costs, realised sales and dates so we can evaluate contribution and time to sale. Do not change purchase allocation from this listing analysis alone; use existing commercial performance evidence where available. If model-assisted review is introduced, compare verified findings and effort with a random review before expanding. These actions aim to improve decision quality, but the financial return is not established.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Findings on preceding slides. Actions and expected benefits are recommendations, not measured financial outcomes.</a:t>
            </a:r>
            <a:endParaRPr b="0" lang="en-US" sz="2000" spc="-1" strike="noStrike">
              <a:solidFill>
                <a:srgbClr val="000000"/>
              </a:solidFill>
              <a:latin typeface="Arial"/>
            </a:endParaRPr>
          </a:p>
        </p:txBody>
      </p:sp>
      <p:sp>
        <p:nvSpPr>
          <p:cNvPr id="301"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E559C58-3D2E-4ACF-9758-C2EB6250C6F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E2B9621-E405-4F31-82D2-1385D9CE957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23138E6-4F63-45A3-B532-1A3D0F9AFDF2}"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965EEE8B-D684-43CD-9503-77C1BA3E459E}"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EC1E267-FA59-4454-9204-AA46605882C4}"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D3743B8-CEAC-49C1-8121-787AE6274228}"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97E0217F-1783-4051-B785-BDAEFDBF8EB6}"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A01E19D-9936-443A-B64C-C49FD80AA4F0}"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3B35A404-02CA-4CE1-A3AE-96D9486BCD74}"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C365FE10-1924-4BD3-99C0-F5CE5816CD95}"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A3F0A9C4-1D89-419A-95DB-A2CA1262E23C}"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5945C50-B5C6-4AB7-9061-10DA216DC487}"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B5456FE-2480-456E-8F75-191AC5C6D36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27FA3CA-D175-4340-BA2C-0DEDF59C1B1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531BADE-912F-4DF8-956B-1A0FB87D20E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02DC936-6201-4B7C-AA66-B834BD12660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791C59D-ED00-41E8-A10E-CB87EB766E8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C044179-F319-4D3C-BC43-45688563D2D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5C95AAA-30B6-4928-8D89-B555219B46C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BBAF8E4-CE09-4BFB-A463-4F6F4466744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EEDF21D-3CF3-4661-BBB1-D381F993B0E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B6CD9E2-97E6-441C-8C05-5C7EA3C85C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D97A995-E26B-41B1-9055-B44A22139F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4845960" cy="685764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Rectangle 2"/>
          <p:cNvSpPr/>
          <p:nvPr/>
        </p:nvSpPr>
        <p:spPr>
          <a:xfrm>
            <a:off x="4846320" y="0"/>
            <a:ext cx="63720" cy="685764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3"/>
          <p:cNvSpPr/>
          <p:nvPr/>
        </p:nvSpPr>
        <p:spPr>
          <a:xfrm>
            <a:off x="548640" y="548640"/>
            <a:ext cx="402300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7fd1d6"/>
                </a:solidFill>
                <a:latin typeface="Calibri"/>
              </a:rPr>
              <a:t>USED CAR RETAILER STRATEGY REVIEW</a:t>
            </a:r>
            <a:endParaRPr b="0" lang="en-US" sz="1200" spc="-1" strike="noStrike">
              <a:solidFill>
                <a:srgbClr val="000000"/>
              </a:solidFill>
              <a:latin typeface="Arial"/>
            </a:endParaRPr>
          </a:p>
        </p:txBody>
      </p:sp>
      <p:sp>
        <p:nvSpPr>
          <p:cNvPr id="76" name="TextBox 4"/>
          <p:cNvSpPr/>
          <p:nvPr/>
        </p:nvSpPr>
        <p:spPr>
          <a:xfrm>
            <a:off x="548640" y="1371600"/>
            <a:ext cx="4023000" cy="1738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ffffff"/>
                </a:solidFill>
                <a:latin typeface="Calibri"/>
              </a:rPr>
              <a:t>Used-car pricing and purchasing priorities</a:t>
            </a:r>
            <a:endParaRPr b="0" lang="en-US" sz="3800" spc="-1" strike="noStrike">
              <a:solidFill>
                <a:srgbClr val="000000"/>
              </a:solidFill>
              <a:latin typeface="Arial"/>
            </a:endParaRPr>
          </a:p>
        </p:txBody>
      </p:sp>
      <p:sp>
        <p:nvSpPr>
          <p:cNvPr id="77" name="TextBox 5"/>
          <p:cNvSpPr/>
          <p:nvPr/>
        </p:nvSpPr>
        <p:spPr>
          <a:xfrm>
            <a:off x="548640" y="5806440"/>
            <a:ext cx="402300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ffffff"/>
                </a:solidFill>
                <a:latin typeface="Calibri"/>
              </a:rPr>
              <a:t>Mohammed Ayan Syed</a:t>
            </a:r>
            <a:endParaRPr b="0" lang="en-US" sz="1500" spc="-1" strike="noStrike">
              <a:solidFill>
                <a:srgbClr val="000000"/>
              </a:solidFill>
              <a:latin typeface="Arial"/>
            </a:endParaRPr>
          </a:p>
        </p:txBody>
      </p:sp>
      <p:sp>
        <p:nvSpPr>
          <p:cNvPr id="78" name="TextBox 6"/>
          <p:cNvSpPr/>
          <p:nvPr/>
        </p:nvSpPr>
        <p:spPr>
          <a:xfrm>
            <a:off x="548640" y="6126480"/>
            <a:ext cx="40230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7fd1d6"/>
                </a:solidFill>
                <a:latin typeface="Calibri"/>
              </a:rPr>
              <a:t>October 2026</a:t>
            </a:r>
            <a:endParaRPr b="0" lang="en-US" sz="1300" spc="-1" strike="noStrike">
              <a:solidFill>
                <a:srgbClr val="000000"/>
              </a:solidFill>
              <a:latin typeface="Arial"/>
            </a:endParaRPr>
          </a:p>
        </p:txBody>
      </p:sp>
      <p:sp>
        <p:nvSpPr>
          <p:cNvPr id="79" name="TextBox 7"/>
          <p:cNvSpPr/>
          <p:nvPr/>
        </p:nvSpPr>
        <p:spPr>
          <a:xfrm>
            <a:off x="5394960" y="685800"/>
            <a:ext cx="62175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OBJECTIVE</a:t>
            </a:r>
            <a:endParaRPr b="0" lang="en-US" sz="1200" spc="-1" strike="noStrike">
              <a:solidFill>
                <a:srgbClr val="000000"/>
              </a:solidFill>
              <a:latin typeface="Arial"/>
            </a:endParaRPr>
          </a:p>
        </p:txBody>
      </p:sp>
      <p:sp>
        <p:nvSpPr>
          <p:cNvPr id="80" name="TextBox 8"/>
          <p:cNvSpPr/>
          <p:nvPr/>
        </p:nvSpPr>
        <p:spPr>
          <a:xfrm>
            <a:off x="5394960" y="1005840"/>
            <a:ext cx="6217560" cy="823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800" spc="-1" strike="noStrike">
                <a:solidFill>
                  <a:srgbClr val="2b3540"/>
                </a:solidFill>
                <a:latin typeface="Calibri"/>
              </a:rPr>
              <a:t>Recommend useful actions from the evidence available today, and identify what would support a purchasing decision.</a:t>
            </a:r>
            <a:endParaRPr b="0" lang="en-US" sz="1800" spc="-1" strike="noStrike">
              <a:solidFill>
                <a:srgbClr val="000000"/>
              </a:solidFill>
              <a:latin typeface="Arial"/>
            </a:endParaRPr>
          </a:p>
        </p:txBody>
      </p:sp>
      <p:sp>
        <p:nvSpPr>
          <p:cNvPr id="81" name="TextBox 9"/>
          <p:cNvSpPr/>
          <p:nvPr/>
        </p:nvSpPr>
        <p:spPr>
          <a:xfrm>
            <a:off x="5394960" y="2423160"/>
            <a:ext cx="62175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QUESTIONS THIS PRESENTATION ANSWERS</a:t>
            </a:r>
            <a:endParaRPr b="0" lang="en-US" sz="1200" spc="-1" strike="noStrike">
              <a:solidFill>
                <a:srgbClr val="000000"/>
              </a:solidFill>
              <a:latin typeface="Arial"/>
            </a:endParaRPr>
          </a:p>
        </p:txBody>
      </p:sp>
      <p:sp>
        <p:nvSpPr>
          <p:cNvPr id="82" name="Rectangle 10"/>
          <p:cNvSpPr/>
          <p:nvPr/>
        </p:nvSpPr>
        <p:spPr>
          <a:xfrm>
            <a:off x="5394960" y="278892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3" name="Rectangle 11"/>
          <p:cNvSpPr/>
          <p:nvPr/>
        </p:nvSpPr>
        <p:spPr>
          <a:xfrm>
            <a:off x="5394960" y="278892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 name="TextBox 12"/>
          <p:cNvSpPr/>
          <p:nvPr/>
        </p:nvSpPr>
        <p:spPr>
          <a:xfrm>
            <a:off x="5669280" y="297108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1</a:t>
            </a:r>
            <a:endParaRPr b="0" lang="en-US" sz="2400" spc="-1" strike="noStrike">
              <a:solidFill>
                <a:srgbClr val="000000"/>
              </a:solidFill>
              <a:latin typeface="Arial"/>
            </a:endParaRPr>
          </a:p>
        </p:txBody>
      </p:sp>
      <p:sp>
        <p:nvSpPr>
          <p:cNvPr id="85" name="TextBox 13"/>
          <p:cNvSpPr/>
          <p:nvPr/>
        </p:nvSpPr>
        <p:spPr>
          <a:xfrm>
            <a:off x="6217920" y="3039840"/>
            <a:ext cx="53031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Where is asking-price value concentrated?</a:t>
            </a:r>
            <a:endParaRPr b="0" lang="en-US" sz="1500" spc="-1" strike="noStrike">
              <a:solidFill>
                <a:srgbClr val="000000"/>
              </a:solidFill>
              <a:latin typeface="Arial"/>
            </a:endParaRPr>
          </a:p>
        </p:txBody>
      </p:sp>
      <p:sp>
        <p:nvSpPr>
          <p:cNvPr id="86" name="Rectangle 14"/>
          <p:cNvSpPr/>
          <p:nvPr/>
        </p:nvSpPr>
        <p:spPr>
          <a:xfrm>
            <a:off x="5394960" y="365760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 name="Rectangle 15"/>
          <p:cNvSpPr/>
          <p:nvPr/>
        </p:nvSpPr>
        <p:spPr>
          <a:xfrm>
            <a:off x="5394960" y="365760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 name="TextBox 16"/>
          <p:cNvSpPr/>
          <p:nvPr/>
        </p:nvSpPr>
        <p:spPr>
          <a:xfrm>
            <a:off x="5669280" y="383976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2</a:t>
            </a:r>
            <a:endParaRPr b="0" lang="en-US" sz="2400" spc="-1" strike="noStrike">
              <a:solidFill>
                <a:srgbClr val="000000"/>
              </a:solidFill>
              <a:latin typeface="Arial"/>
            </a:endParaRPr>
          </a:p>
        </p:txBody>
      </p:sp>
      <p:sp>
        <p:nvSpPr>
          <p:cNvPr id="89" name="TextBox 17"/>
          <p:cNvSpPr/>
          <p:nvPr/>
        </p:nvSpPr>
        <p:spPr>
          <a:xfrm>
            <a:off x="6217920" y="3908520"/>
            <a:ext cx="53031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How should we compare prices and assess older listings?</a:t>
            </a:r>
            <a:endParaRPr b="0" lang="en-US" sz="1500" spc="-1" strike="noStrike">
              <a:solidFill>
                <a:srgbClr val="000000"/>
              </a:solidFill>
              <a:latin typeface="Arial"/>
            </a:endParaRPr>
          </a:p>
        </p:txBody>
      </p:sp>
      <p:sp>
        <p:nvSpPr>
          <p:cNvPr id="90" name="Rectangle 18"/>
          <p:cNvSpPr/>
          <p:nvPr/>
        </p:nvSpPr>
        <p:spPr>
          <a:xfrm>
            <a:off x="5394960" y="452628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 name="Rectangle 19"/>
          <p:cNvSpPr/>
          <p:nvPr/>
        </p:nvSpPr>
        <p:spPr>
          <a:xfrm>
            <a:off x="5394960" y="452628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20"/>
          <p:cNvSpPr/>
          <p:nvPr/>
        </p:nvSpPr>
        <p:spPr>
          <a:xfrm>
            <a:off x="5669280" y="470844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3</a:t>
            </a:r>
            <a:endParaRPr b="0" lang="en-US" sz="2400" spc="-1" strike="noStrike">
              <a:solidFill>
                <a:srgbClr val="000000"/>
              </a:solidFill>
              <a:latin typeface="Arial"/>
            </a:endParaRPr>
          </a:p>
        </p:txBody>
      </p:sp>
      <p:sp>
        <p:nvSpPr>
          <p:cNvPr id="93" name="TextBox 21"/>
          <p:cNvSpPr/>
          <p:nvPr/>
        </p:nvSpPr>
        <p:spPr>
          <a:xfrm>
            <a:off x="6217920" y="4662720"/>
            <a:ext cx="5303160" cy="4579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What should the business do now, and what cannot yet be decided?</a:t>
            </a:r>
            <a:endParaRPr b="0" lang="en-US" sz="1500" spc="-1" strike="noStrike">
              <a:solidFill>
                <a:srgbClr val="000000"/>
              </a:solidFill>
              <a:latin typeface="Arial"/>
            </a:endParaRPr>
          </a:p>
        </p:txBody>
      </p:sp>
      <p:sp>
        <p:nvSpPr>
          <p:cNvPr id="94" name="TextBox 22"/>
          <p:cNvSpPr/>
          <p:nvPr/>
        </p:nvSpPr>
        <p:spPr>
          <a:xfrm>
            <a:off x="5394960" y="5669280"/>
            <a:ext cx="6217560" cy="39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5b6876"/>
                </a:solidFill>
                <a:latin typeface="Calibri"/>
              </a:rPr>
              <a:t>Scope: 5,500 listings. Asking prices describe the sample. They do not measure profit, demand or capital invested.</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96"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Where is asking-price value concentrated?</a:t>
            </a:r>
            <a:endParaRPr b="0" lang="en-US" sz="2900" spc="-1" strike="noStrike">
              <a:solidFill>
                <a:srgbClr val="000000"/>
              </a:solidFill>
              <a:latin typeface="Arial"/>
            </a:endParaRPr>
          </a:p>
        </p:txBody>
      </p:sp>
      <p:sp>
        <p:nvSpPr>
          <p:cNvPr id="97"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Cars aged 0-9 make up 49.7% of listings and 85.3% of their asking value.</a:t>
            </a:r>
            <a:endParaRPr b="0" lang="en-US" sz="1600" spc="-1" strike="noStrike">
              <a:solidFill>
                <a:srgbClr val="000000"/>
              </a:solidFill>
              <a:latin typeface="Arial"/>
            </a:endParaRPr>
          </a:p>
        </p:txBody>
      </p:sp>
      <p:sp>
        <p:nvSpPr>
          <p:cNvPr id="98"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99"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management/age_concentration.csv; slide_data.json. Age = 2024 - model year.</a:t>
            </a:r>
            <a:endParaRPr b="0" lang="en-US" sz="1100" spc="-1" strike="noStrike">
              <a:solidFill>
                <a:srgbClr val="000000"/>
              </a:solidFill>
              <a:latin typeface="Arial"/>
            </a:endParaRPr>
          </a:p>
        </p:txBody>
      </p:sp>
      <p:sp>
        <p:nvSpPr>
          <p:cNvPr id="100"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02</a:t>
            </a:r>
            <a:endParaRPr b="0" lang="en-US" sz="1100" spc="-1" strike="noStrike">
              <a:solidFill>
                <a:srgbClr val="000000"/>
              </a:solidFill>
              <a:latin typeface="Arial"/>
            </a:endParaRPr>
          </a:p>
        </p:txBody>
      </p:sp>
      <p:graphicFrame>
        <p:nvGraphicFramePr>
          <p:cNvPr id="101" name="Chart 7"/>
          <p:cNvGraphicFramePr/>
          <p:nvPr/>
        </p:nvGraphicFramePr>
        <p:xfrm>
          <a:off x="457200" y="1737360"/>
          <a:ext cx="758916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102" name="Rectangle 8"/>
          <p:cNvSpPr/>
          <p:nvPr/>
        </p:nvSpPr>
        <p:spPr>
          <a:xfrm>
            <a:off x="8321040" y="1783080"/>
            <a:ext cx="3318840" cy="228564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 name="Rectangle 9"/>
          <p:cNvSpPr/>
          <p:nvPr/>
        </p:nvSpPr>
        <p:spPr>
          <a:xfrm>
            <a:off x="8321040" y="1783080"/>
            <a:ext cx="72720" cy="228564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 name="TextBox 10"/>
          <p:cNvSpPr/>
          <p:nvPr/>
        </p:nvSpPr>
        <p:spPr>
          <a:xfrm>
            <a:off x="8595360" y="1892880"/>
            <a:ext cx="2907360" cy="5796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13293d"/>
                </a:solidFill>
                <a:latin typeface="Calibri"/>
              </a:rPr>
              <a:t>46.4%</a:t>
            </a:r>
            <a:endParaRPr b="0" lang="en-US" sz="3800" spc="-1" strike="noStrike">
              <a:solidFill>
                <a:srgbClr val="000000"/>
              </a:solidFill>
              <a:latin typeface="Arial"/>
            </a:endParaRPr>
          </a:p>
        </p:txBody>
      </p:sp>
      <p:sp>
        <p:nvSpPr>
          <p:cNvPr id="105" name="TextBox 11"/>
          <p:cNvSpPr/>
          <p:nvPr/>
        </p:nvSpPr>
        <p:spPr>
          <a:xfrm>
            <a:off x="8595360" y="2616840"/>
            <a:ext cx="290736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of asking value is premium brands</a:t>
            </a:r>
            <a:endParaRPr b="0" lang="en-US" sz="1400" spc="-1" strike="noStrike">
              <a:solidFill>
                <a:srgbClr val="000000"/>
              </a:solidFill>
              <a:latin typeface="Arial"/>
            </a:endParaRPr>
          </a:p>
        </p:txBody>
      </p:sp>
      <p:sp>
        <p:nvSpPr>
          <p:cNvPr id="106" name="TextBox 12"/>
          <p:cNvSpPr/>
          <p:nvPr/>
        </p:nvSpPr>
        <p:spPr>
          <a:xfrm>
            <a:off x="8595360" y="3119760"/>
            <a:ext cx="29073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28.9% of listings: Audi, BMW and Mercedes-Benz</a:t>
            </a:r>
            <a:endParaRPr b="0" lang="en-US" sz="1200" spc="-1" strike="noStrike">
              <a:solidFill>
                <a:srgbClr val="000000"/>
              </a:solidFill>
              <a:latin typeface="Arial"/>
            </a:endParaRPr>
          </a:p>
        </p:txBody>
      </p:sp>
      <p:sp>
        <p:nvSpPr>
          <p:cNvPr id="107" name="Rectangle 13"/>
          <p:cNvSpPr/>
          <p:nvPr/>
        </p:nvSpPr>
        <p:spPr>
          <a:xfrm>
            <a:off x="8321040" y="4251960"/>
            <a:ext cx="3318840" cy="13255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 name="Rectangle 14"/>
          <p:cNvSpPr/>
          <p:nvPr/>
        </p:nvSpPr>
        <p:spPr>
          <a:xfrm>
            <a:off x="8321040" y="4251960"/>
            <a:ext cx="72720" cy="132552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TextBox 15"/>
          <p:cNvSpPr/>
          <p:nvPr/>
        </p:nvSpPr>
        <p:spPr>
          <a:xfrm>
            <a:off x="8595360" y="4389120"/>
            <a:ext cx="286164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Asking value = sum of listed prices.</a:t>
            </a:r>
            <a:endParaRPr b="0" lang="en-US" sz="1400" spc="-1" strike="noStrike">
              <a:solidFill>
                <a:srgbClr val="000000"/>
              </a:solidFill>
              <a:latin typeface="Arial"/>
            </a:endParaRPr>
          </a:p>
        </p:txBody>
      </p:sp>
      <p:sp>
        <p:nvSpPr>
          <p:cNvPr id="110" name="TextBox 16"/>
          <p:cNvSpPr/>
          <p:nvPr/>
        </p:nvSpPr>
        <p:spPr>
          <a:xfrm>
            <a:off x="8568360" y="5029200"/>
            <a:ext cx="286164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Not revenue or capital invested.</a:t>
            </a:r>
            <a:endParaRPr b="0" lang="en-US" sz="1300" spc="-1" strike="noStrike">
              <a:solidFill>
                <a:srgbClr val="000000"/>
              </a:solidFill>
              <a:latin typeface="Arial"/>
            </a:endParaRPr>
          </a:p>
        </p:txBody>
      </p:sp>
      <p:sp>
        <p:nvSpPr>
          <p:cNvPr id="111" name="Rounded Rectangle 17"/>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Recommendation: start pricing review with newer listings, then measure the usefulness of this focus.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11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How should the pricing team compare cars?</a:t>
            </a:r>
            <a:endParaRPr b="0" lang="en-US" sz="2900" spc="-1" strike="noStrike">
              <a:solidFill>
                <a:srgbClr val="000000"/>
              </a:solidFill>
              <a:latin typeface="Arial"/>
            </a:endParaRPr>
          </a:p>
        </p:txBody>
      </p:sp>
      <p:sp>
        <p:nvSpPr>
          <p:cNvPr id="11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Compare age, mileage and vehicle model together, and verify condition before changing a price.</a:t>
            </a:r>
            <a:endParaRPr b="0" lang="en-US" sz="1600" spc="-1" strike="noStrike">
              <a:solidFill>
                <a:srgbClr val="000000"/>
              </a:solidFill>
              <a:latin typeface="Arial"/>
            </a:endParaRPr>
          </a:p>
        </p:txBody>
      </p:sp>
      <p:sp>
        <p:nvSpPr>
          <p:cNvPr id="11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1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exploratory/tables/correlations.csv; fixed_staged_models.csv; tuning/test_metrics.csv; test_errors_by_price_band.csv.</a:t>
            </a:r>
            <a:endParaRPr b="0" lang="en-US" sz="1100" spc="-1" strike="noStrike">
              <a:solidFill>
                <a:srgbClr val="000000"/>
              </a:solidFill>
              <a:latin typeface="Arial"/>
            </a:endParaRPr>
          </a:p>
        </p:txBody>
      </p:sp>
      <p:sp>
        <p:nvSpPr>
          <p:cNvPr id="11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03</a:t>
            </a:r>
            <a:endParaRPr b="0" lang="en-US" sz="1100" spc="-1" strike="noStrike">
              <a:solidFill>
                <a:srgbClr val="000000"/>
              </a:solidFill>
              <a:latin typeface="Arial"/>
            </a:endParaRPr>
          </a:p>
        </p:txBody>
      </p:sp>
      <p:sp>
        <p:nvSpPr>
          <p:cNvPr id="118" name="TextBox 7"/>
          <p:cNvSpPr/>
          <p:nvPr/>
        </p:nvSpPr>
        <p:spPr>
          <a:xfrm>
            <a:off x="548640" y="1645920"/>
            <a:ext cx="54860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MEASURED FINDING</a:t>
            </a:r>
            <a:endParaRPr b="0" lang="en-US" sz="1200" spc="-1" strike="noStrike">
              <a:solidFill>
                <a:srgbClr val="000000"/>
              </a:solidFill>
              <a:latin typeface="Arial"/>
            </a:endParaRPr>
          </a:p>
        </p:txBody>
      </p:sp>
      <p:sp>
        <p:nvSpPr>
          <p:cNvPr id="119" name="TextBox 8"/>
          <p:cNvSpPr/>
          <p:nvPr/>
        </p:nvSpPr>
        <p:spPr>
          <a:xfrm>
            <a:off x="6492240" y="1645920"/>
            <a:ext cx="4571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PRACTICAL PRICING IMPLICATION</a:t>
            </a:r>
            <a:endParaRPr b="0" lang="en-US" sz="1200" spc="-1" strike="noStrike">
              <a:solidFill>
                <a:srgbClr val="000000"/>
              </a:solidFill>
              <a:latin typeface="Arial"/>
            </a:endParaRPr>
          </a:p>
        </p:txBody>
      </p:sp>
      <p:sp>
        <p:nvSpPr>
          <p:cNvPr id="120" name="Rectangle 9"/>
          <p:cNvSpPr/>
          <p:nvPr/>
        </p:nvSpPr>
        <p:spPr>
          <a:xfrm>
            <a:off x="548640" y="1965960"/>
            <a:ext cx="5303160" cy="7768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 name="TextBox 10"/>
          <p:cNvSpPr/>
          <p:nvPr/>
        </p:nvSpPr>
        <p:spPr>
          <a:xfrm>
            <a:off x="777240" y="223956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Age and mileage relate strongly to price</a:t>
            </a:r>
            <a:endParaRPr b="0" lang="en-US" sz="1500" spc="-1" strike="noStrike">
              <a:solidFill>
                <a:srgbClr val="000000"/>
              </a:solidFill>
              <a:latin typeface="Arial"/>
            </a:endParaRPr>
          </a:p>
        </p:txBody>
      </p:sp>
      <p:sp>
        <p:nvSpPr>
          <p:cNvPr id="122" name="TextBox 11"/>
          <p:cNvSpPr/>
          <p:nvPr/>
        </p:nvSpPr>
        <p:spPr>
          <a:xfrm>
            <a:off x="5870520" y="217116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123" name="Rectangle 12"/>
          <p:cNvSpPr/>
          <p:nvPr/>
        </p:nvSpPr>
        <p:spPr>
          <a:xfrm>
            <a:off x="6492240" y="1965960"/>
            <a:ext cx="5147640" cy="7768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Rectangle 13"/>
          <p:cNvSpPr/>
          <p:nvPr/>
        </p:nvSpPr>
        <p:spPr>
          <a:xfrm>
            <a:off x="6492240" y="1965960"/>
            <a:ext cx="72720" cy="7768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 name="TextBox 14"/>
          <p:cNvSpPr/>
          <p:nvPr/>
        </p:nvSpPr>
        <p:spPr>
          <a:xfrm>
            <a:off x="6766560" y="224712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Compare both. Avoid a single fleet-wide average.</a:t>
            </a:r>
            <a:endParaRPr b="0" lang="en-US" sz="1400" spc="-1" strike="noStrike">
              <a:solidFill>
                <a:srgbClr val="000000"/>
              </a:solidFill>
              <a:latin typeface="Arial"/>
            </a:endParaRPr>
          </a:p>
        </p:txBody>
      </p:sp>
      <p:sp>
        <p:nvSpPr>
          <p:cNvPr id="126" name="Rectangle 15"/>
          <p:cNvSpPr/>
          <p:nvPr/>
        </p:nvSpPr>
        <p:spPr>
          <a:xfrm>
            <a:off x="548640" y="2898720"/>
            <a:ext cx="5303160" cy="7768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 name="TextBox 16"/>
          <p:cNvSpPr/>
          <p:nvPr/>
        </p:nvSpPr>
        <p:spPr>
          <a:xfrm>
            <a:off x="777240" y="317232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Vehicle model materially improves estimates</a:t>
            </a:r>
            <a:endParaRPr b="0" lang="en-US" sz="1500" spc="-1" strike="noStrike">
              <a:solidFill>
                <a:srgbClr val="000000"/>
              </a:solidFill>
              <a:latin typeface="Arial"/>
            </a:endParaRPr>
          </a:p>
        </p:txBody>
      </p:sp>
      <p:sp>
        <p:nvSpPr>
          <p:cNvPr id="128" name="TextBox 17"/>
          <p:cNvSpPr/>
          <p:nvPr/>
        </p:nvSpPr>
        <p:spPr>
          <a:xfrm>
            <a:off x="5870520" y="310392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129" name="Rectangle 18"/>
          <p:cNvSpPr/>
          <p:nvPr/>
        </p:nvSpPr>
        <p:spPr>
          <a:xfrm>
            <a:off x="6492240" y="2898720"/>
            <a:ext cx="5147640" cy="7768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 name="Rectangle 19"/>
          <p:cNvSpPr/>
          <p:nvPr/>
        </p:nvSpPr>
        <p:spPr>
          <a:xfrm>
            <a:off x="6492240" y="2898720"/>
            <a:ext cx="72720" cy="7768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 name="TextBox 20"/>
          <p:cNvSpPr/>
          <p:nvPr/>
        </p:nvSpPr>
        <p:spPr>
          <a:xfrm>
            <a:off x="6766560" y="3073320"/>
            <a:ext cx="4736160" cy="4276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Choose comparable models, then check trim and condition.</a:t>
            </a:r>
            <a:endParaRPr b="0" lang="en-US" sz="1400" spc="-1" strike="noStrike">
              <a:solidFill>
                <a:srgbClr val="000000"/>
              </a:solidFill>
              <a:latin typeface="Arial"/>
            </a:endParaRPr>
          </a:p>
        </p:txBody>
      </p:sp>
      <p:sp>
        <p:nvSpPr>
          <p:cNvPr id="132" name="Rectangle 21"/>
          <p:cNvSpPr/>
          <p:nvPr/>
        </p:nvSpPr>
        <p:spPr>
          <a:xfrm>
            <a:off x="548640" y="3831480"/>
            <a:ext cx="5303160" cy="7768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 name="TextBox 22"/>
          <p:cNvSpPr/>
          <p:nvPr/>
        </p:nvSpPr>
        <p:spPr>
          <a:xfrm>
            <a:off x="777240" y="410508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Over-$30k listings average $1,833 above estimates</a:t>
            </a:r>
            <a:endParaRPr b="0" lang="en-US" sz="1500" spc="-1" strike="noStrike">
              <a:solidFill>
                <a:srgbClr val="000000"/>
              </a:solidFill>
              <a:latin typeface="Arial"/>
            </a:endParaRPr>
          </a:p>
        </p:txBody>
      </p:sp>
      <p:sp>
        <p:nvSpPr>
          <p:cNvPr id="134" name="TextBox 23"/>
          <p:cNvSpPr/>
          <p:nvPr/>
        </p:nvSpPr>
        <p:spPr>
          <a:xfrm>
            <a:off x="5870520" y="403668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135" name="Rectangle 24"/>
          <p:cNvSpPr/>
          <p:nvPr/>
        </p:nvSpPr>
        <p:spPr>
          <a:xfrm>
            <a:off x="6492240" y="3831480"/>
            <a:ext cx="5147640" cy="7768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 name="Rectangle 25"/>
          <p:cNvSpPr/>
          <p:nvPr/>
        </p:nvSpPr>
        <p:spPr>
          <a:xfrm>
            <a:off x="6492240" y="3831480"/>
            <a:ext cx="72720" cy="7768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TextBox 26"/>
          <p:cNvSpPr/>
          <p:nvPr/>
        </p:nvSpPr>
        <p:spPr>
          <a:xfrm>
            <a:off x="6766560" y="411264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Verify expensive listings with independent comparables.</a:t>
            </a:r>
            <a:endParaRPr b="0" lang="en-US" sz="1400" spc="-1" strike="noStrike">
              <a:solidFill>
                <a:srgbClr val="000000"/>
              </a:solidFill>
              <a:latin typeface="Arial"/>
            </a:endParaRPr>
          </a:p>
        </p:txBody>
      </p:sp>
      <p:sp>
        <p:nvSpPr>
          <p:cNvPr id="138" name="Rectangle 27"/>
          <p:cNvSpPr/>
          <p:nvPr/>
        </p:nvSpPr>
        <p:spPr>
          <a:xfrm>
            <a:off x="548640" y="4763880"/>
            <a:ext cx="5303160" cy="7768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9" name="TextBox 28"/>
          <p:cNvSpPr/>
          <p:nvPr/>
        </p:nvSpPr>
        <p:spPr>
          <a:xfrm>
            <a:off x="777240" y="503748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Are these data derived using last data </a:t>
            </a:r>
            <a:endParaRPr b="0" lang="en-US" sz="1500" spc="-1" strike="noStrike">
              <a:solidFill>
                <a:srgbClr val="000000"/>
              </a:solidFill>
              <a:latin typeface="Arial"/>
            </a:endParaRPr>
          </a:p>
        </p:txBody>
      </p:sp>
      <p:sp>
        <p:nvSpPr>
          <p:cNvPr id="140" name="TextBox 29"/>
          <p:cNvSpPr/>
          <p:nvPr/>
        </p:nvSpPr>
        <p:spPr>
          <a:xfrm>
            <a:off x="5870520" y="496908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141" name="Rectangle 30"/>
          <p:cNvSpPr/>
          <p:nvPr/>
        </p:nvSpPr>
        <p:spPr>
          <a:xfrm>
            <a:off x="6492240" y="4763880"/>
            <a:ext cx="5147640" cy="7768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Rectangle 31"/>
          <p:cNvSpPr/>
          <p:nvPr/>
        </p:nvSpPr>
        <p:spPr>
          <a:xfrm>
            <a:off x="6492240" y="4763880"/>
            <a:ext cx="72720" cy="7768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 name="TextBox 32"/>
          <p:cNvSpPr/>
          <p:nvPr/>
        </p:nvSpPr>
        <p:spPr>
          <a:xfrm>
            <a:off x="6766560" y="504504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Track the realised sale and time to sale .</a:t>
            </a:r>
            <a:endParaRPr b="0" lang="en-US" sz="1400" spc="-1" strike="noStrike">
              <a:solidFill>
                <a:srgbClr val="000000"/>
              </a:solidFill>
              <a:latin typeface="Arial"/>
            </a:endParaRPr>
          </a:p>
        </p:txBody>
      </p:sp>
      <p:sp>
        <p:nvSpPr>
          <p:cNvPr id="144" name="Rounded Rectangle 33"/>
          <p:cNvSpPr/>
          <p:nvPr/>
        </p:nvSpPr>
        <p:spPr>
          <a:xfrm>
            <a:off x="548640" y="562356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Recommendation: use structured price comparisons and human verification. Measure the outcomes of price changes.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146"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Should we buy fewer older cars?</a:t>
            </a:r>
            <a:endParaRPr b="0" lang="en-US" sz="2900" spc="-1" strike="noStrike">
              <a:solidFill>
                <a:srgbClr val="000000"/>
              </a:solidFill>
              <a:latin typeface="Arial"/>
            </a:endParaRPr>
          </a:p>
        </p:txBody>
      </p:sp>
      <p:sp>
        <p:nvSpPr>
          <p:cNvPr id="147"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Low asking value does not establish low profitability. The purchasing conclusion remains open.</a:t>
            </a:r>
            <a:endParaRPr b="0" lang="en-US" sz="1600" spc="-1" strike="noStrike">
              <a:solidFill>
                <a:srgbClr val="000000"/>
              </a:solidFill>
              <a:latin typeface="Arial"/>
            </a:endParaRPr>
          </a:p>
        </p:txBody>
      </p:sp>
      <p:sp>
        <p:nvSpPr>
          <p:cNvPr id="148"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49"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management/age_concentration.csv; dataset_clean.csv. 936 records belong to both older and $500 groups.</a:t>
            </a:r>
            <a:endParaRPr b="0" lang="en-US" sz="1100" spc="-1" strike="noStrike">
              <a:solidFill>
                <a:srgbClr val="000000"/>
              </a:solidFill>
              <a:latin typeface="Arial"/>
            </a:endParaRPr>
          </a:p>
        </p:txBody>
      </p:sp>
      <p:sp>
        <p:nvSpPr>
          <p:cNvPr id="150"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04</a:t>
            </a:r>
            <a:endParaRPr b="0" lang="en-US" sz="1100" spc="-1" strike="noStrike">
              <a:solidFill>
                <a:srgbClr val="000000"/>
              </a:solidFill>
              <a:latin typeface="Arial"/>
            </a:endParaRPr>
          </a:p>
        </p:txBody>
      </p:sp>
      <p:sp>
        <p:nvSpPr>
          <p:cNvPr id="151" name="Rectangle 7"/>
          <p:cNvSpPr/>
          <p:nvPr/>
        </p:nvSpPr>
        <p:spPr>
          <a:xfrm>
            <a:off x="548640" y="1783080"/>
            <a:ext cx="2697120" cy="233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 name="Rectangle 8"/>
          <p:cNvSpPr/>
          <p:nvPr/>
        </p:nvSpPr>
        <p:spPr>
          <a:xfrm>
            <a:off x="548640" y="1783080"/>
            <a:ext cx="72720" cy="233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TextBox 9"/>
          <p:cNvSpPr/>
          <p:nvPr/>
        </p:nvSpPr>
        <p:spPr>
          <a:xfrm>
            <a:off x="822960" y="1892880"/>
            <a:ext cx="228564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13293d"/>
                </a:solidFill>
                <a:latin typeface="Calibri"/>
              </a:rPr>
              <a:t>25.1%</a:t>
            </a:r>
            <a:endParaRPr b="0" lang="en-US" sz="3600" spc="-1" strike="noStrike">
              <a:solidFill>
                <a:srgbClr val="000000"/>
              </a:solidFill>
              <a:latin typeface="Arial"/>
            </a:endParaRPr>
          </a:p>
        </p:txBody>
      </p:sp>
      <p:sp>
        <p:nvSpPr>
          <p:cNvPr id="154" name="TextBox 10"/>
          <p:cNvSpPr/>
          <p:nvPr/>
        </p:nvSpPr>
        <p:spPr>
          <a:xfrm>
            <a:off x="822960" y="2578680"/>
            <a:ext cx="2285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Age 15+</a:t>
            </a:r>
            <a:endParaRPr b="0" lang="en-US" sz="1400" spc="-1" strike="noStrike">
              <a:solidFill>
                <a:srgbClr val="000000"/>
              </a:solidFill>
              <a:latin typeface="Arial"/>
            </a:endParaRPr>
          </a:p>
        </p:txBody>
      </p:sp>
      <p:sp>
        <p:nvSpPr>
          <p:cNvPr id="155" name="TextBox 11"/>
          <p:cNvSpPr/>
          <p:nvPr/>
        </p:nvSpPr>
        <p:spPr>
          <a:xfrm>
            <a:off x="822960" y="3081600"/>
            <a:ext cx="22856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1,381 listings; 3.3% of asking value</a:t>
            </a:r>
            <a:endParaRPr b="0" lang="en-US" sz="1200" spc="-1" strike="noStrike">
              <a:solidFill>
                <a:srgbClr val="000000"/>
              </a:solidFill>
              <a:latin typeface="Arial"/>
            </a:endParaRPr>
          </a:p>
        </p:txBody>
      </p:sp>
      <p:sp>
        <p:nvSpPr>
          <p:cNvPr id="156" name="Rectangle 12"/>
          <p:cNvSpPr/>
          <p:nvPr/>
        </p:nvSpPr>
        <p:spPr>
          <a:xfrm>
            <a:off x="3355920" y="1783080"/>
            <a:ext cx="2697120" cy="233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 name="Rectangle 13"/>
          <p:cNvSpPr/>
          <p:nvPr/>
        </p:nvSpPr>
        <p:spPr>
          <a:xfrm>
            <a:off x="3355920" y="1783080"/>
            <a:ext cx="72720" cy="233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TextBox 14"/>
          <p:cNvSpPr/>
          <p:nvPr/>
        </p:nvSpPr>
        <p:spPr>
          <a:xfrm>
            <a:off x="3630240" y="1892880"/>
            <a:ext cx="228564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13293d"/>
                </a:solidFill>
                <a:latin typeface="Calibri"/>
              </a:rPr>
              <a:t>22.1%</a:t>
            </a:r>
            <a:endParaRPr b="0" lang="en-US" sz="3600" spc="-1" strike="noStrike">
              <a:solidFill>
                <a:srgbClr val="000000"/>
              </a:solidFill>
              <a:latin typeface="Arial"/>
            </a:endParaRPr>
          </a:p>
        </p:txBody>
      </p:sp>
      <p:sp>
        <p:nvSpPr>
          <p:cNvPr id="159" name="TextBox 15"/>
          <p:cNvSpPr/>
          <p:nvPr/>
        </p:nvSpPr>
        <p:spPr>
          <a:xfrm>
            <a:off x="3630240" y="2578680"/>
            <a:ext cx="2285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Exactly $500</a:t>
            </a:r>
            <a:endParaRPr b="0" lang="en-US" sz="1400" spc="-1" strike="noStrike">
              <a:solidFill>
                <a:srgbClr val="000000"/>
              </a:solidFill>
              <a:latin typeface="Arial"/>
            </a:endParaRPr>
          </a:p>
        </p:txBody>
      </p:sp>
      <p:sp>
        <p:nvSpPr>
          <p:cNvPr id="160" name="TextBox 16"/>
          <p:cNvSpPr/>
          <p:nvPr/>
        </p:nvSpPr>
        <p:spPr>
          <a:xfrm>
            <a:off x="3630240" y="3081600"/>
            <a:ext cx="22856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1,216 listings; 0.9% of asking value</a:t>
            </a:r>
            <a:endParaRPr b="0" lang="en-US" sz="1200" spc="-1" strike="noStrike">
              <a:solidFill>
                <a:srgbClr val="000000"/>
              </a:solidFill>
              <a:latin typeface="Arial"/>
            </a:endParaRPr>
          </a:p>
        </p:txBody>
      </p:sp>
      <p:sp>
        <p:nvSpPr>
          <p:cNvPr id="161" name="Rectangle 17"/>
          <p:cNvSpPr/>
          <p:nvPr/>
        </p:nvSpPr>
        <p:spPr>
          <a:xfrm>
            <a:off x="6163200" y="1783080"/>
            <a:ext cx="2697120" cy="233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18"/>
          <p:cNvSpPr/>
          <p:nvPr/>
        </p:nvSpPr>
        <p:spPr>
          <a:xfrm>
            <a:off x="6163200" y="1783080"/>
            <a:ext cx="72720" cy="233136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19"/>
          <p:cNvSpPr/>
          <p:nvPr/>
        </p:nvSpPr>
        <p:spPr>
          <a:xfrm>
            <a:off x="6437520" y="1892880"/>
            <a:ext cx="228564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c8402f"/>
                </a:solidFill>
                <a:latin typeface="Calibri"/>
              </a:rPr>
              <a:t>936</a:t>
            </a:r>
            <a:endParaRPr b="0" lang="en-US" sz="3600" spc="-1" strike="noStrike">
              <a:solidFill>
                <a:srgbClr val="000000"/>
              </a:solidFill>
              <a:latin typeface="Arial"/>
            </a:endParaRPr>
          </a:p>
        </p:txBody>
      </p:sp>
      <p:sp>
        <p:nvSpPr>
          <p:cNvPr id="164" name="TextBox 20"/>
          <p:cNvSpPr/>
          <p:nvPr/>
        </p:nvSpPr>
        <p:spPr>
          <a:xfrm>
            <a:off x="6437520" y="2578680"/>
            <a:ext cx="2285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Both groups</a:t>
            </a:r>
            <a:endParaRPr b="0" lang="en-US" sz="1400" spc="-1" strike="noStrike">
              <a:solidFill>
                <a:srgbClr val="000000"/>
              </a:solidFill>
              <a:latin typeface="Arial"/>
            </a:endParaRPr>
          </a:p>
        </p:txBody>
      </p:sp>
      <p:sp>
        <p:nvSpPr>
          <p:cNvPr id="165" name="TextBox 21"/>
          <p:cNvSpPr/>
          <p:nvPr/>
        </p:nvSpPr>
        <p:spPr>
          <a:xfrm>
            <a:off x="6437520" y="3081600"/>
            <a:ext cx="2285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Do not add the group totals</a:t>
            </a:r>
            <a:endParaRPr b="0" lang="en-US" sz="1200" spc="-1" strike="noStrike">
              <a:solidFill>
                <a:srgbClr val="000000"/>
              </a:solidFill>
              <a:latin typeface="Arial"/>
            </a:endParaRPr>
          </a:p>
        </p:txBody>
      </p:sp>
      <p:sp>
        <p:nvSpPr>
          <p:cNvPr id="166" name="Rectangle 22"/>
          <p:cNvSpPr/>
          <p:nvPr/>
        </p:nvSpPr>
        <p:spPr>
          <a:xfrm>
            <a:off x="8970120" y="1783080"/>
            <a:ext cx="2697120" cy="233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 name="Rectangle 23"/>
          <p:cNvSpPr/>
          <p:nvPr/>
        </p:nvSpPr>
        <p:spPr>
          <a:xfrm>
            <a:off x="8970120" y="1783080"/>
            <a:ext cx="72720" cy="233136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TextBox 24"/>
          <p:cNvSpPr/>
          <p:nvPr/>
        </p:nvSpPr>
        <p:spPr>
          <a:xfrm>
            <a:off x="9244440" y="1892880"/>
            <a:ext cx="228564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c8402f"/>
                </a:solidFill>
                <a:latin typeface="Calibri"/>
              </a:rPr>
              <a:t>91.9%</a:t>
            </a:r>
            <a:endParaRPr b="0" lang="en-US" sz="3600" spc="-1" strike="noStrike">
              <a:solidFill>
                <a:srgbClr val="000000"/>
              </a:solidFill>
              <a:latin typeface="Arial"/>
            </a:endParaRPr>
          </a:p>
        </p:txBody>
      </p:sp>
      <p:sp>
        <p:nvSpPr>
          <p:cNvPr id="169" name="TextBox 25"/>
          <p:cNvSpPr/>
          <p:nvPr/>
        </p:nvSpPr>
        <p:spPr>
          <a:xfrm>
            <a:off x="9244440" y="2578680"/>
            <a:ext cx="2285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Age 15+ and 200k+ miles</a:t>
            </a:r>
            <a:endParaRPr b="0" lang="en-US" sz="1400" spc="-1" strike="noStrike">
              <a:solidFill>
                <a:srgbClr val="000000"/>
              </a:solidFill>
              <a:latin typeface="Arial"/>
            </a:endParaRPr>
          </a:p>
        </p:txBody>
      </p:sp>
      <p:sp>
        <p:nvSpPr>
          <p:cNvPr id="170" name="TextBox 26"/>
          <p:cNvSpPr/>
          <p:nvPr/>
        </p:nvSpPr>
        <p:spPr>
          <a:xfrm>
            <a:off x="9244440" y="3081600"/>
            <a:ext cx="2285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691 listings; recorded at $500</a:t>
            </a:r>
            <a:endParaRPr b="0" lang="en-US" sz="1200" spc="-1" strike="noStrike">
              <a:solidFill>
                <a:srgbClr val="000000"/>
              </a:solidFill>
              <a:latin typeface="Arial"/>
            </a:endParaRPr>
          </a:p>
        </p:txBody>
      </p:sp>
      <p:sp>
        <p:nvSpPr>
          <p:cNvPr id="171" name="TextBox 27"/>
          <p:cNvSpPr/>
          <p:nvPr/>
        </p:nvSpPr>
        <p:spPr>
          <a:xfrm>
            <a:off x="548640" y="4297680"/>
            <a:ext cx="1106388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800" spc="-1" strike="noStrike">
                <a:solidFill>
                  <a:srgbClr val="2b3540"/>
                </a:solidFill>
                <a:latin typeface="Calibri"/>
              </a:rPr>
              <a:t>A low-priced car may contribute well if buying and repair costs are low and it sells quickly. These outcomes are absent.</a:t>
            </a:r>
            <a:endParaRPr b="0" lang="en-US" sz="1800" spc="-1" strike="noStrike">
              <a:solidFill>
                <a:srgbClr val="000000"/>
              </a:solidFill>
              <a:latin typeface="Arial"/>
            </a:endParaRPr>
          </a:p>
        </p:txBody>
      </p:sp>
      <p:sp>
        <p:nvSpPr>
          <p:cNvPr id="172" name="Rounded Rectangle 28"/>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Recommendation: assess this segment separately and verify the $500 convention before changing purchasing policy.</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174"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Which body types dominate the listing sample?</a:t>
            </a:r>
            <a:endParaRPr b="0" lang="en-US" sz="2900" spc="-1" strike="noStrike">
              <a:solidFill>
                <a:srgbClr val="000000"/>
              </a:solidFill>
              <a:latin typeface="Arial"/>
            </a:endParaRPr>
          </a:p>
        </p:txBody>
      </p:sp>
      <p:sp>
        <p:nvSpPr>
          <p:cNvPr id="175"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SUVs and sedans together account for 89.9% of listings. Other body types have much smaller representation.</a:t>
            </a:r>
            <a:endParaRPr b="0" lang="en-US" sz="1600" spc="-1" strike="noStrike">
              <a:solidFill>
                <a:srgbClr val="000000"/>
              </a:solidFill>
              <a:latin typeface="Arial"/>
            </a:endParaRPr>
          </a:p>
        </p:txBody>
      </p:sp>
      <p:sp>
        <p:nvSpPr>
          <p:cNvPr id="176"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77"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dataset_clean.csv. Counts and shares use all 5,500 listings.</a:t>
            </a:r>
            <a:endParaRPr b="0" lang="en-US" sz="1100" spc="-1" strike="noStrike">
              <a:solidFill>
                <a:srgbClr val="000000"/>
              </a:solidFill>
              <a:latin typeface="Arial"/>
            </a:endParaRPr>
          </a:p>
        </p:txBody>
      </p:sp>
      <p:sp>
        <p:nvSpPr>
          <p:cNvPr id="178"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05</a:t>
            </a:r>
            <a:endParaRPr b="0" lang="en-US" sz="1100" spc="-1" strike="noStrike">
              <a:solidFill>
                <a:srgbClr val="000000"/>
              </a:solidFill>
              <a:latin typeface="Arial"/>
            </a:endParaRPr>
          </a:p>
        </p:txBody>
      </p:sp>
      <p:graphicFrame>
        <p:nvGraphicFramePr>
          <p:cNvPr id="179" name="Chart 7"/>
          <p:cNvGraphicFramePr/>
          <p:nvPr/>
        </p:nvGraphicFramePr>
        <p:xfrm>
          <a:off x="457200" y="1737360"/>
          <a:ext cx="749772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180" name="Rectangle 8"/>
          <p:cNvSpPr/>
          <p:nvPr/>
        </p:nvSpPr>
        <p:spPr>
          <a:xfrm>
            <a:off x="8321040" y="1828800"/>
            <a:ext cx="3318840" cy="21942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1" name="Rectangle 9"/>
          <p:cNvSpPr/>
          <p:nvPr/>
        </p:nvSpPr>
        <p:spPr>
          <a:xfrm>
            <a:off x="8321040" y="1828800"/>
            <a:ext cx="72720" cy="21942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 name="TextBox 10"/>
          <p:cNvSpPr/>
          <p:nvPr/>
        </p:nvSpPr>
        <p:spPr>
          <a:xfrm>
            <a:off x="8595360" y="1938600"/>
            <a:ext cx="2907360" cy="609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000" spc="-1" strike="noStrike">
                <a:solidFill>
                  <a:srgbClr val="007c85"/>
                </a:solidFill>
                <a:latin typeface="Calibri"/>
              </a:rPr>
              <a:t>89.9%</a:t>
            </a:r>
            <a:endParaRPr b="0" lang="en-US" sz="4000" spc="-1" strike="noStrike">
              <a:solidFill>
                <a:srgbClr val="000000"/>
              </a:solidFill>
              <a:latin typeface="Arial"/>
            </a:endParaRPr>
          </a:p>
        </p:txBody>
      </p:sp>
      <p:sp>
        <p:nvSpPr>
          <p:cNvPr id="183" name="TextBox 11"/>
          <p:cNvSpPr/>
          <p:nvPr/>
        </p:nvSpPr>
        <p:spPr>
          <a:xfrm>
            <a:off x="8595360" y="2700360"/>
            <a:ext cx="29073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SUV and sedan</a:t>
            </a:r>
            <a:endParaRPr b="0" lang="en-US" sz="1400" spc="-1" strike="noStrike">
              <a:solidFill>
                <a:srgbClr val="000000"/>
              </a:solidFill>
              <a:latin typeface="Arial"/>
            </a:endParaRPr>
          </a:p>
        </p:txBody>
      </p:sp>
      <p:sp>
        <p:nvSpPr>
          <p:cNvPr id="184" name="TextBox 12"/>
          <p:cNvSpPr/>
          <p:nvPr/>
        </p:nvSpPr>
        <p:spPr>
          <a:xfrm>
            <a:off x="8595360" y="3203280"/>
            <a:ext cx="29073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of the 5,500 listings</a:t>
            </a:r>
            <a:endParaRPr b="0" lang="en-US" sz="1200" spc="-1" strike="noStrike">
              <a:solidFill>
                <a:srgbClr val="000000"/>
              </a:solidFill>
              <a:latin typeface="Arial"/>
            </a:endParaRPr>
          </a:p>
        </p:txBody>
      </p:sp>
      <p:sp>
        <p:nvSpPr>
          <p:cNvPr id="185" name="Rectangle 13"/>
          <p:cNvSpPr/>
          <p:nvPr/>
        </p:nvSpPr>
        <p:spPr>
          <a:xfrm>
            <a:off x="8321040" y="4206240"/>
            <a:ext cx="3318840" cy="137124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 name="Rectangle 14"/>
          <p:cNvSpPr/>
          <p:nvPr/>
        </p:nvSpPr>
        <p:spPr>
          <a:xfrm>
            <a:off x="8321040" y="4206240"/>
            <a:ext cx="72720" cy="137124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 name="TextBox 15"/>
          <p:cNvSpPr/>
          <p:nvPr/>
        </p:nvSpPr>
        <p:spPr>
          <a:xfrm>
            <a:off x="8595360" y="4343400"/>
            <a:ext cx="2861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This is composition only.</a:t>
            </a:r>
            <a:endParaRPr b="0" lang="en-US" sz="1400" spc="-1" strike="noStrike">
              <a:solidFill>
                <a:srgbClr val="000000"/>
              </a:solidFill>
              <a:latin typeface="Arial"/>
            </a:endParaRPr>
          </a:p>
        </p:txBody>
      </p:sp>
      <p:sp>
        <p:nvSpPr>
          <p:cNvPr id="188" name="TextBox 16"/>
          <p:cNvSpPr/>
          <p:nvPr/>
        </p:nvSpPr>
        <p:spPr>
          <a:xfrm>
            <a:off x="8595360" y="4665240"/>
            <a:ext cx="2861640" cy="39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It does not show which body type customers prefer.</a:t>
            </a:r>
            <a:endParaRPr b="0" lang="en-US" sz="1300" spc="-1" strike="noStrike">
              <a:solidFill>
                <a:srgbClr val="000000"/>
              </a:solidFill>
              <a:latin typeface="Arial"/>
            </a:endParaRPr>
          </a:p>
        </p:txBody>
      </p:sp>
      <p:sp>
        <p:nvSpPr>
          <p:cNvPr id="189" name="Rounded Rectangle 17"/>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this describes listing composition. It does not establish which body type customers prefer.</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191"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Do older-to-younger price ratios differ by segment?</a:t>
            </a:r>
            <a:endParaRPr b="0" lang="en-US" sz="2900" spc="-1" strike="noStrike">
              <a:solidFill>
                <a:srgbClr val="000000"/>
              </a:solidFill>
              <a:latin typeface="Arial"/>
            </a:endParaRPr>
          </a:p>
        </p:txBody>
      </p:sp>
      <p:sp>
        <p:nvSpPr>
          <p:cNvPr id="192"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Premium makes show higher ratios in this sample. The comparison is descriptive and affected by vehicle mix.</a:t>
            </a:r>
            <a:endParaRPr b="0" lang="en-US" sz="1600" spc="-1" strike="noStrike">
              <a:solidFill>
                <a:srgbClr val="000000"/>
              </a:solidFill>
              <a:latin typeface="Arial"/>
            </a:endParaRPr>
          </a:p>
        </p:txBody>
      </p:sp>
      <p:sp>
        <p:nvSpPr>
          <p:cNvPr id="193"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94"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management/make_ratios.csv; body_type_ratios.csv. Median price at age 5-9 / median at age 0-4.</a:t>
            </a:r>
            <a:endParaRPr b="0" lang="en-US" sz="1100" spc="-1" strike="noStrike">
              <a:solidFill>
                <a:srgbClr val="000000"/>
              </a:solidFill>
              <a:latin typeface="Arial"/>
            </a:endParaRPr>
          </a:p>
        </p:txBody>
      </p:sp>
      <p:sp>
        <p:nvSpPr>
          <p:cNvPr id="195"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06</a:t>
            </a:r>
            <a:endParaRPr b="0" lang="en-US" sz="1100" spc="-1" strike="noStrike">
              <a:solidFill>
                <a:srgbClr val="000000"/>
              </a:solidFill>
              <a:latin typeface="Arial"/>
            </a:endParaRPr>
          </a:p>
        </p:txBody>
      </p:sp>
      <p:sp>
        <p:nvSpPr>
          <p:cNvPr id="196" name="TextBox 7"/>
          <p:cNvSpPr/>
          <p:nvPr/>
        </p:nvSpPr>
        <p:spPr>
          <a:xfrm>
            <a:off x="548640" y="1645920"/>
            <a:ext cx="54860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By make (premium brands in teal)</a:t>
            </a:r>
            <a:endParaRPr b="0" lang="en-US" sz="1400" spc="-1" strike="noStrike">
              <a:solidFill>
                <a:srgbClr val="000000"/>
              </a:solidFill>
              <a:latin typeface="Arial"/>
            </a:endParaRPr>
          </a:p>
        </p:txBody>
      </p:sp>
      <p:sp>
        <p:nvSpPr>
          <p:cNvPr id="197" name="TextBox 8"/>
          <p:cNvSpPr/>
          <p:nvPr/>
        </p:nvSpPr>
        <p:spPr>
          <a:xfrm>
            <a:off x="6400800" y="1645920"/>
            <a:ext cx="45716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By body type</a:t>
            </a:r>
            <a:endParaRPr b="0" lang="en-US" sz="1400" spc="-1" strike="noStrike">
              <a:solidFill>
                <a:srgbClr val="000000"/>
              </a:solidFill>
              <a:latin typeface="Arial"/>
            </a:endParaRPr>
          </a:p>
        </p:txBody>
      </p:sp>
      <p:graphicFrame>
        <p:nvGraphicFramePr>
          <p:cNvPr id="198" name="Chart 9"/>
          <p:cNvGraphicFramePr/>
          <p:nvPr/>
        </p:nvGraphicFramePr>
        <p:xfrm>
          <a:off x="457200" y="1874520"/>
          <a:ext cx="5760360" cy="34286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99" name="Chart 10"/>
          <p:cNvGraphicFramePr/>
          <p:nvPr/>
        </p:nvGraphicFramePr>
        <p:xfrm>
          <a:off x="6309360" y="1874520"/>
          <a:ext cx="5348880" cy="3428640"/>
        </p:xfrm>
        <a:graphic>
          <a:graphicData uri="http://schemas.openxmlformats.org/drawingml/2006/chart">
            <c:chart xmlns:c="http://schemas.openxmlformats.org/drawingml/2006/chart" xmlns:r="http://schemas.openxmlformats.org/officeDocument/2006/relationships" r:id="rId2"/>
          </a:graphicData>
        </a:graphic>
      </p:graphicFrame>
      <p:sp>
        <p:nvSpPr>
          <p:cNvPr id="200" name="TextBox 11"/>
          <p:cNvSpPr/>
          <p:nvPr/>
        </p:nvSpPr>
        <p:spPr>
          <a:xfrm>
            <a:off x="548640" y="5349240"/>
            <a:ext cx="11063880" cy="335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Ratio = median asking price at age 5-9 / median at age 0-4. Different vehicles, not the same cars over time. Group sizes (0-4 / 5-9): SUV 684/631, sedan 564/562, truck 85/73, hatchback 32/27, coupe 29/46.</a:t>
            </a:r>
            <a:endParaRPr b="0" lang="en-US" sz="1100" spc="-1" strike="noStrike">
              <a:solidFill>
                <a:srgbClr val="000000"/>
              </a:solidFill>
              <a:latin typeface="Arial"/>
            </a:endParaRPr>
          </a:p>
        </p:txBody>
      </p:sp>
      <p:sp>
        <p:nvSpPr>
          <p:cNvPr id="201" name="Rounded Rectangle 12"/>
          <p:cNvSpPr/>
          <p:nvPr/>
        </p:nvSpPr>
        <p:spPr>
          <a:xfrm>
            <a:off x="548640" y="5852160"/>
            <a:ext cx="11091240" cy="50256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use ratios as descriptive leads. They do not measure depreciation, demand or profit.</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20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What evidence would support purchasing priorities?</a:t>
            </a:r>
            <a:endParaRPr b="0" lang="en-US" sz="2900" spc="-1" strike="noStrike">
              <a:solidFill>
                <a:srgbClr val="000000"/>
              </a:solidFill>
              <a:latin typeface="Arial"/>
            </a:endParaRPr>
          </a:p>
        </p:txBody>
      </p:sp>
      <p:sp>
        <p:nvSpPr>
          <p:cNvPr id="20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Realised contribution and time to sale would make segment economics measurable.</a:t>
            </a:r>
            <a:endParaRPr b="0" lang="en-US" sz="1600" spc="-1" strike="noStrike">
              <a:solidFill>
                <a:srgbClr val="000000"/>
              </a:solidFill>
              <a:latin typeface="Arial"/>
            </a:endParaRPr>
          </a:p>
        </p:txBody>
      </p:sp>
      <p:sp>
        <p:nvSpPr>
          <p:cNvPr id="20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0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Missing fields in dataset_clean.csv. Proposed collection, not measured results.</a:t>
            </a:r>
            <a:endParaRPr b="0" lang="en-US" sz="1100" spc="-1" strike="noStrike">
              <a:solidFill>
                <a:srgbClr val="000000"/>
              </a:solidFill>
              <a:latin typeface="Arial"/>
            </a:endParaRPr>
          </a:p>
        </p:txBody>
      </p:sp>
      <p:sp>
        <p:nvSpPr>
          <p:cNvPr id="20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07</a:t>
            </a:r>
            <a:endParaRPr b="0" lang="en-US" sz="1100" spc="-1" strike="noStrike">
              <a:solidFill>
                <a:srgbClr val="000000"/>
              </a:solidFill>
              <a:latin typeface="Arial"/>
            </a:endParaRPr>
          </a:p>
        </p:txBody>
      </p:sp>
      <p:sp>
        <p:nvSpPr>
          <p:cNvPr id="208" name="TextBox 7"/>
          <p:cNvSpPr/>
          <p:nvPr/>
        </p:nvSpPr>
        <p:spPr>
          <a:xfrm>
            <a:off x="548640" y="1645920"/>
            <a:ext cx="54860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BUSINESS QUESTION</a:t>
            </a:r>
            <a:endParaRPr b="0" lang="en-US" sz="1200" spc="-1" strike="noStrike">
              <a:solidFill>
                <a:srgbClr val="000000"/>
              </a:solidFill>
              <a:latin typeface="Arial"/>
            </a:endParaRPr>
          </a:p>
        </p:txBody>
      </p:sp>
      <p:sp>
        <p:nvSpPr>
          <p:cNvPr id="209" name="TextBox 8"/>
          <p:cNvSpPr/>
          <p:nvPr/>
        </p:nvSpPr>
        <p:spPr>
          <a:xfrm>
            <a:off x="6492240" y="1645920"/>
            <a:ext cx="4571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INFORMATION TO RECORD</a:t>
            </a:r>
            <a:endParaRPr b="0" lang="en-US" sz="1200" spc="-1" strike="noStrike">
              <a:solidFill>
                <a:srgbClr val="000000"/>
              </a:solidFill>
              <a:latin typeface="Arial"/>
            </a:endParaRPr>
          </a:p>
        </p:txBody>
      </p:sp>
      <p:sp>
        <p:nvSpPr>
          <p:cNvPr id="210" name="Rectangle 9"/>
          <p:cNvSpPr/>
          <p:nvPr/>
        </p:nvSpPr>
        <p:spPr>
          <a:xfrm>
            <a:off x="548640" y="1920240"/>
            <a:ext cx="5303160" cy="62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1" name="TextBox 10"/>
          <p:cNvSpPr/>
          <p:nvPr/>
        </p:nvSpPr>
        <p:spPr>
          <a:xfrm>
            <a:off x="777240" y="2108520"/>
            <a:ext cx="4845960" cy="24444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600" spc="-1" strike="noStrike">
                <a:solidFill>
                  <a:srgbClr val="ffffff"/>
                </a:solidFill>
                <a:latin typeface="Calibri"/>
              </a:rPr>
              <a:t>Which segments earn contribution?</a:t>
            </a:r>
            <a:endParaRPr b="0" lang="en-US" sz="1600" spc="-1" strike="noStrike">
              <a:solidFill>
                <a:srgbClr val="000000"/>
              </a:solidFill>
              <a:latin typeface="Arial"/>
            </a:endParaRPr>
          </a:p>
        </p:txBody>
      </p:sp>
      <p:sp>
        <p:nvSpPr>
          <p:cNvPr id="212" name="TextBox 11"/>
          <p:cNvSpPr/>
          <p:nvPr/>
        </p:nvSpPr>
        <p:spPr>
          <a:xfrm>
            <a:off x="5870520" y="204768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13" name="Rectangle 12"/>
          <p:cNvSpPr/>
          <p:nvPr/>
        </p:nvSpPr>
        <p:spPr>
          <a:xfrm>
            <a:off x="6492240" y="1920240"/>
            <a:ext cx="5147640" cy="62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Rectangle 13"/>
          <p:cNvSpPr/>
          <p:nvPr/>
        </p:nvSpPr>
        <p:spPr>
          <a:xfrm>
            <a:off x="6492240" y="1920240"/>
            <a:ext cx="72720" cy="6213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 name="TextBox 14"/>
          <p:cNvSpPr/>
          <p:nvPr/>
        </p:nvSpPr>
        <p:spPr>
          <a:xfrm>
            <a:off x="6766560" y="2017080"/>
            <a:ext cx="4736160" cy="4276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Realised sale price, acquisition, repair and other direct costs</a:t>
            </a:r>
            <a:endParaRPr b="0" lang="en-US" sz="1400" spc="-1" strike="noStrike">
              <a:solidFill>
                <a:srgbClr val="000000"/>
              </a:solidFill>
              <a:latin typeface="Arial"/>
            </a:endParaRPr>
          </a:p>
        </p:txBody>
      </p:sp>
      <p:sp>
        <p:nvSpPr>
          <p:cNvPr id="216" name="Rectangle 15"/>
          <p:cNvSpPr/>
          <p:nvPr/>
        </p:nvSpPr>
        <p:spPr>
          <a:xfrm>
            <a:off x="548640" y="2651760"/>
            <a:ext cx="5303160" cy="62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 name="TextBox 16"/>
          <p:cNvSpPr/>
          <p:nvPr/>
        </p:nvSpPr>
        <p:spPr>
          <a:xfrm>
            <a:off x="777240" y="2840040"/>
            <a:ext cx="4845960" cy="24444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600" spc="-1" strike="noStrike">
                <a:solidFill>
                  <a:srgbClr val="ffffff"/>
                </a:solidFill>
                <a:latin typeface="Calibri"/>
              </a:rPr>
              <a:t>Which sell quickly or remain unsold?</a:t>
            </a:r>
            <a:endParaRPr b="0" lang="en-US" sz="1600" spc="-1" strike="noStrike">
              <a:solidFill>
                <a:srgbClr val="000000"/>
              </a:solidFill>
              <a:latin typeface="Arial"/>
            </a:endParaRPr>
          </a:p>
        </p:txBody>
      </p:sp>
      <p:sp>
        <p:nvSpPr>
          <p:cNvPr id="218" name="TextBox 17"/>
          <p:cNvSpPr/>
          <p:nvPr/>
        </p:nvSpPr>
        <p:spPr>
          <a:xfrm>
            <a:off x="5870520" y="277920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19" name="Rectangle 18"/>
          <p:cNvSpPr/>
          <p:nvPr/>
        </p:nvSpPr>
        <p:spPr>
          <a:xfrm>
            <a:off x="6492240" y="2651760"/>
            <a:ext cx="5147640" cy="62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 name="Rectangle 19"/>
          <p:cNvSpPr/>
          <p:nvPr/>
        </p:nvSpPr>
        <p:spPr>
          <a:xfrm>
            <a:off x="6492240" y="2651760"/>
            <a:ext cx="72720" cy="6213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 name="TextBox 20"/>
          <p:cNvSpPr/>
          <p:nvPr/>
        </p:nvSpPr>
        <p:spPr>
          <a:xfrm>
            <a:off x="6766560" y="285516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Acquisition, listing and sale dates, unsold-stock age</a:t>
            </a:r>
            <a:endParaRPr b="0" lang="en-US" sz="1400" spc="-1" strike="noStrike">
              <a:solidFill>
                <a:srgbClr val="000000"/>
              </a:solidFill>
              <a:latin typeface="Arial"/>
            </a:endParaRPr>
          </a:p>
        </p:txBody>
      </p:sp>
      <p:sp>
        <p:nvSpPr>
          <p:cNvPr id="222" name="Rectangle 21"/>
          <p:cNvSpPr/>
          <p:nvPr/>
        </p:nvSpPr>
        <p:spPr>
          <a:xfrm>
            <a:off x="548640" y="3383280"/>
            <a:ext cx="5303160" cy="62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 name="TextBox 22"/>
          <p:cNvSpPr/>
          <p:nvPr/>
        </p:nvSpPr>
        <p:spPr>
          <a:xfrm>
            <a:off x="777240" y="3571560"/>
            <a:ext cx="4845960" cy="24444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600" spc="-1" strike="noStrike">
                <a:solidFill>
                  <a:srgbClr val="ffffff"/>
                </a:solidFill>
                <a:latin typeface="Calibri"/>
              </a:rPr>
              <a:t>Which use capital efficiently?</a:t>
            </a:r>
            <a:endParaRPr b="0" lang="en-US" sz="1600" spc="-1" strike="noStrike">
              <a:solidFill>
                <a:srgbClr val="000000"/>
              </a:solidFill>
              <a:latin typeface="Arial"/>
            </a:endParaRPr>
          </a:p>
        </p:txBody>
      </p:sp>
      <p:sp>
        <p:nvSpPr>
          <p:cNvPr id="224" name="TextBox 23"/>
          <p:cNvSpPr/>
          <p:nvPr/>
        </p:nvSpPr>
        <p:spPr>
          <a:xfrm>
            <a:off x="5870520" y="351072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25" name="Rectangle 24"/>
          <p:cNvSpPr/>
          <p:nvPr/>
        </p:nvSpPr>
        <p:spPr>
          <a:xfrm>
            <a:off x="6492240" y="3383280"/>
            <a:ext cx="5147640" cy="62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Rectangle 25"/>
          <p:cNvSpPr/>
          <p:nvPr/>
        </p:nvSpPr>
        <p:spPr>
          <a:xfrm>
            <a:off x="6492240" y="3383280"/>
            <a:ext cx="72720" cy="6213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7" name="TextBox 26"/>
          <p:cNvSpPr/>
          <p:nvPr/>
        </p:nvSpPr>
        <p:spPr>
          <a:xfrm>
            <a:off x="6766560" y="358668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Contribution, time in stock, invested and holding costs</a:t>
            </a:r>
            <a:endParaRPr b="0" lang="en-US" sz="1400" spc="-1" strike="noStrike">
              <a:solidFill>
                <a:srgbClr val="000000"/>
              </a:solidFill>
              <a:latin typeface="Arial"/>
            </a:endParaRPr>
          </a:p>
        </p:txBody>
      </p:sp>
      <p:sp>
        <p:nvSpPr>
          <p:cNvPr id="228" name="Rectangle 27"/>
          <p:cNvSpPr/>
          <p:nvPr/>
        </p:nvSpPr>
        <p:spPr>
          <a:xfrm>
            <a:off x="548640" y="4114800"/>
            <a:ext cx="5303160" cy="6213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TextBox 28"/>
          <p:cNvSpPr/>
          <p:nvPr/>
        </p:nvSpPr>
        <p:spPr>
          <a:xfrm>
            <a:off x="777240" y="4303080"/>
            <a:ext cx="4845960" cy="24444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600" spc="-1" strike="noStrike">
                <a:solidFill>
                  <a:srgbClr val="ffffff"/>
                </a:solidFill>
                <a:latin typeface="Calibri"/>
              </a:rPr>
              <a:t>Can we trust comparisons?</a:t>
            </a:r>
            <a:endParaRPr b="0" lang="en-US" sz="1600" spc="-1" strike="noStrike">
              <a:solidFill>
                <a:srgbClr val="000000"/>
              </a:solidFill>
              <a:latin typeface="Arial"/>
            </a:endParaRPr>
          </a:p>
        </p:txBody>
      </p:sp>
      <p:sp>
        <p:nvSpPr>
          <p:cNvPr id="230" name="TextBox 29"/>
          <p:cNvSpPr/>
          <p:nvPr/>
        </p:nvSpPr>
        <p:spPr>
          <a:xfrm>
            <a:off x="5870520" y="424224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31" name="Rectangle 30"/>
          <p:cNvSpPr/>
          <p:nvPr/>
        </p:nvSpPr>
        <p:spPr>
          <a:xfrm>
            <a:off x="6492240" y="4114800"/>
            <a:ext cx="5147640" cy="6213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Rectangle 31"/>
          <p:cNvSpPr/>
          <p:nvPr/>
        </p:nvSpPr>
        <p:spPr>
          <a:xfrm>
            <a:off x="6492240" y="4114800"/>
            <a:ext cx="72720" cy="6213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TextBox 32"/>
          <p:cNvSpPr/>
          <p:nvPr/>
        </p:nvSpPr>
        <p:spPr>
          <a:xfrm>
            <a:off x="6766560" y="431820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Vehicle ID, trim and verified condition/history</a:t>
            </a:r>
            <a:endParaRPr b="0" lang="en-US" sz="1400" spc="-1" strike="noStrike">
              <a:solidFill>
                <a:srgbClr val="000000"/>
              </a:solidFill>
              <a:latin typeface="Arial"/>
            </a:endParaRPr>
          </a:p>
        </p:txBody>
      </p:sp>
      <p:sp>
        <p:nvSpPr>
          <p:cNvPr id="234" name="Rectangle 33"/>
          <p:cNvSpPr/>
          <p:nvPr/>
        </p:nvSpPr>
        <p:spPr>
          <a:xfrm>
            <a:off x="548640" y="5074920"/>
            <a:ext cx="110912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 name="Rectangle 34"/>
          <p:cNvSpPr/>
          <p:nvPr/>
        </p:nvSpPr>
        <p:spPr>
          <a:xfrm>
            <a:off x="548640" y="507492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 name="TextBox 35"/>
          <p:cNvSpPr/>
          <p:nvPr/>
        </p:nvSpPr>
        <p:spPr>
          <a:xfrm>
            <a:off x="822960" y="5212080"/>
            <a:ext cx="106340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Contribution before overhead = realised sale price - acquisition - reconditioning - other direct costs.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MANAGEMENT REVIEW</a:t>
            </a:r>
            <a:endParaRPr b="0" lang="en-US" sz="1100" spc="-1" strike="noStrike">
              <a:solidFill>
                <a:srgbClr val="000000"/>
              </a:solidFill>
              <a:latin typeface="Arial"/>
            </a:endParaRPr>
          </a:p>
        </p:txBody>
      </p:sp>
      <p:sp>
        <p:nvSpPr>
          <p:cNvPr id="238"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What should the business do now?</a:t>
            </a:r>
            <a:endParaRPr b="0" lang="en-US" sz="2900" spc="-1" strike="noStrike">
              <a:solidFill>
                <a:srgbClr val="000000"/>
              </a:solidFill>
              <a:latin typeface="Arial"/>
            </a:endParaRPr>
          </a:p>
        </p:txBody>
      </p:sp>
      <p:sp>
        <p:nvSpPr>
          <p:cNvPr id="239" name="TextBox 3"/>
          <p:cNvSpPr/>
          <p:nvPr/>
        </p:nvSpPr>
        <p:spPr>
          <a:xfrm>
            <a:off x="548640" y="1024200"/>
            <a:ext cx="11063880" cy="48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Improve price comparison and data verification, then use commercial outcomes to decide purchasing changes.</a:t>
            </a:r>
            <a:endParaRPr b="0" lang="en-US" sz="1600" spc="-1" strike="noStrike">
              <a:solidFill>
                <a:srgbClr val="000000"/>
              </a:solidFill>
              <a:latin typeface="Arial"/>
            </a:endParaRPr>
          </a:p>
        </p:txBody>
      </p:sp>
      <p:sp>
        <p:nvSpPr>
          <p:cNvPr id="240"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41"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Findings on preceding slides. Actions and expected benefits are recommendations, not measured financial outcomes.</a:t>
            </a:r>
            <a:endParaRPr b="0" lang="en-US" sz="1100" spc="-1" strike="noStrike">
              <a:solidFill>
                <a:srgbClr val="000000"/>
              </a:solidFill>
              <a:latin typeface="Arial"/>
            </a:endParaRPr>
          </a:p>
        </p:txBody>
      </p:sp>
      <p:sp>
        <p:nvSpPr>
          <p:cNvPr id="242"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08</a:t>
            </a:r>
            <a:endParaRPr b="0" lang="en-US" sz="1100" spc="-1" strike="noStrike">
              <a:solidFill>
                <a:srgbClr val="000000"/>
              </a:solidFill>
              <a:latin typeface="Arial"/>
            </a:endParaRPr>
          </a:p>
        </p:txBody>
      </p:sp>
      <p:sp>
        <p:nvSpPr>
          <p:cNvPr id="243" name="TextBox 7"/>
          <p:cNvSpPr/>
          <p:nvPr/>
        </p:nvSpPr>
        <p:spPr>
          <a:xfrm>
            <a:off x="548640" y="1645920"/>
            <a:ext cx="4114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ACTION NOW</a:t>
            </a:r>
            <a:endParaRPr b="0" lang="en-US" sz="1200" spc="-1" strike="noStrike">
              <a:solidFill>
                <a:srgbClr val="000000"/>
              </a:solidFill>
              <a:latin typeface="Arial"/>
            </a:endParaRPr>
          </a:p>
        </p:txBody>
      </p:sp>
      <p:sp>
        <p:nvSpPr>
          <p:cNvPr id="244" name="TextBox 8"/>
          <p:cNvSpPr/>
          <p:nvPr/>
        </p:nvSpPr>
        <p:spPr>
          <a:xfrm>
            <a:off x="4983480" y="1645920"/>
            <a:ext cx="1828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OWNER</a:t>
            </a:r>
            <a:endParaRPr b="0" lang="en-US" sz="1200" spc="-1" strike="noStrike">
              <a:solidFill>
                <a:srgbClr val="000000"/>
              </a:solidFill>
              <a:latin typeface="Arial"/>
            </a:endParaRPr>
          </a:p>
        </p:txBody>
      </p:sp>
      <p:sp>
        <p:nvSpPr>
          <p:cNvPr id="245" name="TextBox 9"/>
          <p:cNvSpPr/>
          <p:nvPr/>
        </p:nvSpPr>
        <p:spPr>
          <a:xfrm>
            <a:off x="7086600" y="1645920"/>
            <a:ext cx="4571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DECISION OR BENEFIT TO EVALUATE</a:t>
            </a:r>
            <a:endParaRPr b="0" lang="en-US" sz="1200" spc="-1" strike="noStrike">
              <a:solidFill>
                <a:srgbClr val="000000"/>
              </a:solidFill>
              <a:latin typeface="Arial"/>
            </a:endParaRPr>
          </a:p>
        </p:txBody>
      </p:sp>
      <p:sp>
        <p:nvSpPr>
          <p:cNvPr id="246" name="Rectangle 10"/>
          <p:cNvSpPr/>
          <p:nvPr/>
        </p:nvSpPr>
        <p:spPr>
          <a:xfrm>
            <a:off x="548640" y="1965960"/>
            <a:ext cx="4297320" cy="6580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 name="TextBox 11"/>
          <p:cNvSpPr/>
          <p:nvPr/>
        </p:nvSpPr>
        <p:spPr>
          <a:xfrm>
            <a:off x="731520" y="2081160"/>
            <a:ext cx="4023000" cy="4276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400" spc="-1" strike="noStrike">
                <a:solidFill>
                  <a:srgbClr val="ffffff"/>
                </a:solidFill>
                <a:latin typeface="Calibri"/>
              </a:rPr>
              <a:t>Compare age, mileage and model before repricing</a:t>
            </a:r>
            <a:endParaRPr b="0" lang="en-US" sz="1400" spc="-1" strike="noStrike">
              <a:solidFill>
                <a:srgbClr val="000000"/>
              </a:solidFill>
              <a:latin typeface="Arial"/>
            </a:endParaRPr>
          </a:p>
        </p:txBody>
      </p:sp>
      <p:sp>
        <p:nvSpPr>
          <p:cNvPr id="248" name="Rectangle 12"/>
          <p:cNvSpPr/>
          <p:nvPr/>
        </p:nvSpPr>
        <p:spPr>
          <a:xfrm>
            <a:off x="4983480" y="1965960"/>
            <a:ext cx="196560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 name="TextBox 13"/>
          <p:cNvSpPr/>
          <p:nvPr/>
        </p:nvSpPr>
        <p:spPr>
          <a:xfrm>
            <a:off x="5074920" y="2203200"/>
            <a:ext cx="178272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Calibri"/>
              </a:rPr>
              <a:t>Pricing lead</a:t>
            </a:r>
            <a:endParaRPr b="0" lang="en-US" sz="1200" spc="-1" strike="noStrike">
              <a:solidFill>
                <a:srgbClr val="000000"/>
              </a:solidFill>
              <a:latin typeface="Arial"/>
            </a:endParaRPr>
          </a:p>
        </p:txBody>
      </p:sp>
      <p:sp>
        <p:nvSpPr>
          <p:cNvPr id="250" name="Rectangle 14"/>
          <p:cNvSpPr/>
          <p:nvPr/>
        </p:nvSpPr>
        <p:spPr>
          <a:xfrm>
            <a:off x="7086600" y="1965960"/>
            <a:ext cx="4553280" cy="6580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 name="Rectangle 15"/>
          <p:cNvSpPr/>
          <p:nvPr/>
        </p:nvSpPr>
        <p:spPr>
          <a:xfrm>
            <a:off x="7086600" y="1965960"/>
            <a:ext cx="7272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 name="TextBox 16"/>
          <p:cNvSpPr/>
          <p:nvPr/>
        </p:nvSpPr>
        <p:spPr>
          <a:xfrm>
            <a:off x="7315200" y="2187720"/>
            <a:ext cx="425160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Verified comparisons and actual sale outcomes</a:t>
            </a:r>
            <a:endParaRPr b="0" lang="en-US" sz="1400" spc="-1" strike="noStrike">
              <a:solidFill>
                <a:srgbClr val="000000"/>
              </a:solidFill>
              <a:latin typeface="Arial"/>
            </a:endParaRPr>
          </a:p>
        </p:txBody>
      </p:sp>
      <p:sp>
        <p:nvSpPr>
          <p:cNvPr id="253" name="Rectangle 17"/>
          <p:cNvSpPr/>
          <p:nvPr/>
        </p:nvSpPr>
        <p:spPr>
          <a:xfrm>
            <a:off x="548640" y="2743200"/>
            <a:ext cx="4297320" cy="6580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 name="TextBox 18"/>
          <p:cNvSpPr/>
          <p:nvPr/>
        </p:nvSpPr>
        <p:spPr>
          <a:xfrm>
            <a:off x="731520" y="2858400"/>
            <a:ext cx="4023000" cy="4276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400" spc="-1" strike="noStrike">
                <a:solidFill>
                  <a:srgbClr val="ffffff"/>
                </a:solidFill>
                <a:latin typeface="Calibri"/>
              </a:rPr>
              <a:t>Verify $500 / 100-mile values and older segment</a:t>
            </a:r>
            <a:endParaRPr b="0" lang="en-US" sz="1400" spc="-1" strike="noStrike">
              <a:solidFill>
                <a:srgbClr val="000000"/>
              </a:solidFill>
              <a:latin typeface="Arial"/>
            </a:endParaRPr>
          </a:p>
        </p:txBody>
      </p:sp>
      <p:sp>
        <p:nvSpPr>
          <p:cNvPr id="255" name="Rectangle 19"/>
          <p:cNvSpPr/>
          <p:nvPr/>
        </p:nvSpPr>
        <p:spPr>
          <a:xfrm>
            <a:off x="4983480" y="2743200"/>
            <a:ext cx="196560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 name="TextBox 20"/>
          <p:cNvSpPr/>
          <p:nvPr/>
        </p:nvSpPr>
        <p:spPr>
          <a:xfrm>
            <a:off x="5074920" y="2889000"/>
            <a:ext cx="178272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Calibri"/>
              </a:rPr>
              <a:t>Data owner / inventory team</a:t>
            </a:r>
            <a:endParaRPr b="0" lang="en-US" sz="1200" spc="-1" strike="noStrike">
              <a:solidFill>
                <a:srgbClr val="000000"/>
              </a:solidFill>
              <a:latin typeface="Arial"/>
            </a:endParaRPr>
          </a:p>
        </p:txBody>
      </p:sp>
      <p:sp>
        <p:nvSpPr>
          <p:cNvPr id="257" name="Rectangle 21"/>
          <p:cNvSpPr/>
          <p:nvPr/>
        </p:nvSpPr>
        <p:spPr>
          <a:xfrm>
            <a:off x="7086600" y="2743200"/>
            <a:ext cx="4553280" cy="6580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8" name="Rectangle 22"/>
          <p:cNvSpPr/>
          <p:nvPr/>
        </p:nvSpPr>
        <p:spPr>
          <a:xfrm>
            <a:off x="7086600" y="2743200"/>
            <a:ext cx="7272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9" name="TextBox 23"/>
          <p:cNvSpPr/>
          <p:nvPr/>
        </p:nvSpPr>
        <p:spPr>
          <a:xfrm>
            <a:off x="7315200" y="2964960"/>
            <a:ext cx="425160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Meaning of minima and segment contribution</a:t>
            </a:r>
            <a:endParaRPr b="0" lang="en-US" sz="1400" spc="-1" strike="noStrike">
              <a:solidFill>
                <a:srgbClr val="000000"/>
              </a:solidFill>
              <a:latin typeface="Arial"/>
            </a:endParaRPr>
          </a:p>
        </p:txBody>
      </p:sp>
      <p:sp>
        <p:nvSpPr>
          <p:cNvPr id="260" name="Rectangle 24"/>
          <p:cNvSpPr/>
          <p:nvPr/>
        </p:nvSpPr>
        <p:spPr>
          <a:xfrm>
            <a:off x="548640" y="3520440"/>
            <a:ext cx="4297320" cy="6580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 name="TextBox 25"/>
          <p:cNvSpPr/>
          <p:nvPr/>
        </p:nvSpPr>
        <p:spPr>
          <a:xfrm>
            <a:off x="731520" y="3742200"/>
            <a:ext cx="402300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400" spc="-1" strike="noStrike">
                <a:solidFill>
                  <a:srgbClr val="ffffff"/>
                </a:solidFill>
                <a:latin typeface="Calibri"/>
              </a:rPr>
              <a:t>Record costs, realised sales and dates</a:t>
            </a:r>
            <a:endParaRPr b="0" lang="en-US" sz="1400" spc="-1" strike="noStrike">
              <a:solidFill>
                <a:srgbClr val="000000"/>
              </a:solidFill>
              <a:latin typeface="Arial"/>
            </a:endParaRPr>
          </a:p>
        </p:txBody>
      </p:sp>
      <p:sp>
        <p:nvSpPr>
          <p:cNvPr id="262" name="Rectangle 26"/>
          <p:cNvSpPr/>
          <p:nvPr/>
        </p:nvSpPr>
        <p:spPr>
          <a:xfrm>
            <a:off x="4983480" y="3520440"/>
            <a:ext cx="196560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TextBox 27"/>
          <p:cNvSpPr/>
          <p:nvPr/>
        </p:nvSpPr>
        <p:spPr>
          <a:xfrm>
            <a:off x="5074920" y="3666240"/>
            <a:ext cx="178272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Calibri"/>
              </a:rPr>
              <a:t>Sales / finance / operations</a:t>
            </a:r>
            <a:endParaRPr b="0" lang="en-US" sz="1200" spc="-1" strike="noStrike">
              <a:solidFill>
                <a:srgbClr val="000000"/>
              </a:solidFill>
              <a:latin typeface="Arial"/>
            </a:endParaRPr>
          </a:p>
        </p:txBody>
      </p:sp>
      <p:sp>
        <p:nvSpPr>
          <p:cNvPr id="264" name="Rectangle 28"/>
          <p:cNvSpPr/>
          <p:nvPr/>
        </p:nvSpPr>
        <p:spPr>
          <a:xfrm>
            <a:off x="7086600" y="3520440"/>
            <a:ext cx="4553280" cy="6580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5" name="Rectangle 29"/>
          <p:cNvSpPr/>
          <p:nvPr/>
        </p:nvSpPr>
        <p:spPr>
          <a:xfrm>
            <a:off x="7086600" y="3520440"/>
            <a:ext cx="7272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 name="TextBox 30"/>
          <p:cNvSpPr/>
          <p:nvPr/>
        </p:nvSpPr>
        <p:spPr>
          <a:xfrm>
            <a:off x="7315200" y="3742200"/>
            <a:ext cx="425160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Contribution, time to sale and capital efficiency</a:t>
            </a:r>
            <a:endParaRPr b="0" lang="en-US" sz="1400" spc="-1" strike="noStrike">
              <a:solidFill>
                <a:srgbClr val="000000"/>
              </a:solidFill>
              <a:latin typeface="Arial"/>
            </a:endParaRPr>
          </a:p>
        </p:txBody>
      </p:sp>
      <p:sp>
        <p:nvSpPr>
          <p:cNvPr id="267" name="Rectangle 31"/>
          <p:cNvSpPr/>
          <p:nvPr/>
        </p:nvSpPr>
        <p:spPr>
          <a:xfrm>
            <a:off x="548640" y="4297680"/>
            <a:ext cx="4297320" cy="65808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 name="TextBox 32"/>
          <p:cNvSpPr/>
          <p:nvPr/>
        </p:nvSpPr>
        <p:spPr>
          <a:xfrm>
            <a:off x="731520" y="4412880"/>
            <a:ext cx="4023000" cy="4276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400" spc="-1" strike="noStrike">
                <a:solidFill>
                  <a:srgbClr val="ffffff"/>
                </a:solidFill>
                <a:latin typeface="Calibri"/>
              </a:rPr>
              <a:t>Measure any model-assisted review workflow</a:t>
            </a:r>
            <a:endParaRPr b="0" lang="en-US" sz="1400" spc="-1" strike="noStrike">
              <a:solidFill>
                <a:srgbClr val="000000"/>
              </a:solidFill>
              <a:latin typeface="Arial"/>
            </a:endParaRPr>
          </a:p>
        </p:txBody>
      </p:sp>
      <p:sp>
        <p:nvSpPr>
          <p:cNvPr id="269" name="Rectangle 33"/>
          <p:cNvSpPr/>
          <p:nvPr/>
        </p:nvSpPr>
        <p:spPr>
          <a:xfrm>
            <a:off x="4983480" y="4297680"/>
            <a:ext cx="196560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 name="TextBox 34"/>
          <p:cNvSpPr/>
          <p:nvPr/>
        </p:nvSpPr>
        <p:spPr>
          <a:xfrm>
            <a:off x="5074920" y="4534920"/>
            <a:ext cx="178272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Calibri"/>
              </a:rPr>
              <a:t>Pricing analyst</a:t>
            </a:r>
            <a:endParaRPr b="0" lang="en-US" sz="1200" spc="-1" strike="noStrike">
              <a:solidFill>
                <a:srgbClr val="000000"/>
              </a:solidFill>
              <a:latin typeface="Arial"/>
            </a:endParaRPr>
          </a:p>
        </p:txBody>
      </p:sp>
      <p:sp>
        <p:nvSpPr>
          <p:cNvPr id="271" name="Rectangle 35"/>
          <p:cNvSpPr/>
          <p:nvPr/>
        </p:nvSpPr>
        <p:spPr>
          <a:xfrm>
            <a:off x="7086600" y="4297680"/>
            <a:ext cx="4553280" cy="65808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 name="Rectangle 36"/>
          <p:cNvSpPr/>
          <p:nvPr/>
        </p:nvSpPr>
        <p:spPr>
          <a:xfrm>
            <a:off x="7086600" y="4297680"/>
            <a:ext cx="72720" cy="65808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3" name="TextBox 37"/>
          <p:cNvSpPr/>
          <p:nvPr/>
        </p:nvSpPr>
        <p:spPr>
          <a:xfrm>
            <a:off x="7315200" y="4519440"/>
            <a:ext cx="425160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Useful findings against random review</a:t>
            </a:r>
            <a:endParaRPr b="0" lang="en-US" sz="1400" spc="-1" strike="noStrike">
              <a:solidFill>
                <a:srgbClr val="000000"/>
              </a:solidFill>
              <a:latin typeface="Arial"/>
            </a:endParaRPr>
          </a:p>
        </p:txBody>
      </p:sp>
      <p:sp>
        <p:nvSpPr>
          <p:cNvPr id="274" name="Rectangle 38"/>
          <p:cNvSpPr/>
          <p:nvPr/>
        </p:nvSpPr>
        <p:spPr>
          <a:xfrm>
            <a:off x="548640" y="5166360"/>
            <a:ext cx="11091240" cy="8683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 name="Rectangle 39"/>
          <p:cNvSpPr/>
          <p:nvPr/>
        </p:nvSpPr>
        <p:spPr>
          <a:xfrm>
            <a:off x="548640" y="5166360"/>
            <a:ext cx="72720" cy="86832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 name="TextBox 40"/>
          <p:cNvSpPr/>
          <p:nvPr/>
        </p:nvSpPr>
        <p:spPr>
          <a:xfrm>
            <a:off x="822960" y="5303520"/>
            <a:ext cx="1063404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13293d"/>
                </a:solidFill>
                <a:latin typeface="Calibri"/>
              </a:rPr>
              <a:t>Purchasing stance</a:t>
            </a:r>
            <a:endParaRPr b="0" lang="en-US" sz="1500" spc="-1" strike="noStrike">
              <a:solidFill>
                <a:srgbClr val="000000"/>
              </a:solidFill>
              <a:latin typeface="Arial"/>
            </a:endParaRPr>
          </a:p>
        </p:txBody>
      </p:sp>
      <p:sp>
        <p:nvSpPr>
          <p:cNvPr id="277" name="TextBox 41"/>
          <p:cNvSpPr/>
          <p:nvPr/>
        </p:nvSpPr>
        <p:spPr>
          <a:xfrm>
            <a:off x="822960" y="5650200"/>
            <a:ext cx="106340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2b3540"/>
                </a:solidFill>
                <a:latin typeface="Calibri"/>
              </a:rPr>
              <a:t>This analysis alone does not justify a new age or brand ratio. Use commercial performance evidence to decide.</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2026-10-11T15:42:33Z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